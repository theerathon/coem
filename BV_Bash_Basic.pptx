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  <p:sldMasterId id="2147483721" r:id="rId2"/>
  </p:sldMasterIdLst>
  <p:notesMasterIdLst>
    <p:notesMasterId r:id="rId40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2" r:id="rId34"/>
    <p:sldId id="288" r:id="rId35"/>
    <p:sldId id="289" r:id="rId36"/>
    <p:sldId id="290" r:id="rId37"/>
    <p:sldId id="293" r:id="rId38"/>
    <p:sldId id="29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3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DAEC7F-C272-42D8-A261-3DCF875DE68D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06D3D-660E-4CC6-B139-9A7EE3679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876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hzhh/Shell/blob/master/doc/Prentice.Hall-Unix.Shells.By.Example,4th.Edition.chm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743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1358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0901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8598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7698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063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6658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9757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7608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6860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0820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5147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55734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36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82626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5735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53062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4810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03980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64513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35575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13819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31182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23502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31660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95767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88324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23213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84800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60578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96785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54832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20158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33258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hlinkClick r:id="rId3"/>
              </a:rPr>
              <a:t>https://github.com/zhzhh/Shell/blob/master/doc/Prentice.Hall-Unix.Shells.By.Example%2C4th.Edition.chm</a:t>
            </a:r>
            <a:endParaRPr dirty="0"/>
          </a:p>
        </p:txBody>
      </p:sp>
      <p:sp>
        <p:nvSpPr>
          <p:cNvPr id="359" name="Google Shape;359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39083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9430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8"/>
          <p:cNvSpPr txBox="1">
            <a:spLocks noGrp="1"/>
          </p:cNvSpPr>
          <p:nvPr>
            <p:ph type="ctrTitle"/>
          </p:nvPr>
        </p:nvSpPr>
        <p:spPr>
          <a:xfrm>
            <a:off x="4636643" y="4898876"/>
            <a:ext cx="7162800" cy="7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Condensed"/>
              <a:buNone/>
              <a:defRPr sz="4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8"/>
          <p:cNvSpPr txBox="1">
            <a:spLocks noGrp="1"/>
          </p:cNvSpPr>
          <p:nvPr>
            <p:ph type="subTitle" idx="1"/>
          </p:nvPr>
        </p:nvSpPr>
        <p:spPr>
          <a:xfrm>
            <a:off x="4664268" y="5432447"/>
            <a:ext cx="7125600" cy="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Condensed"/>
              <a:buNone/>
              <a:defRPr sz="2267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867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332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[BG]" preserve="1">
  <p:cSld name="Title and Body [BG]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9"/>
          <p:cNvSpPr txBox="1">
            <a:spLocks noGrp="1"/>
          </p:cNvSpPr>
          <p:nvPr>
            <p:ph type="title"/>
          </p:nvPr>
        </p:nvSpPr>
        <p:spPr>
          <a:xfrm>
            <a:off x="436605" y="255716"/>
            <a:ext cx="113104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  <a:defRPr sz="4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2000" i="0" u="none" strike="noStrike" cap="none">
                <a:solidFill>
                  <a:schemeClr val="dk1"/>
                </a:solidFill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6pPr>
            <a:lvl7pPr marL="3200400" marR="0" lvl="6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7pPr>
            <a:lvl8pPr marL="3657600" marR="0" lvl="7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8pPr>
            <a:lvl9pPr marL="4114800" marR="0" lvl="8" indent="-311150" algn="l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204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[BG]" preserve="1">
  <p:cSld name="Blank [BG]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89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 preserve="1">
  <p:cSld name="Section header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3"/>
          <p:cNvSpPr txBox="1">
            <a:spLocks noGrp="1"/>
          </p:cNvSpPr>
          <p:nvPr>
            <p:ph type="ctrTitle"/>
          </p:nvPr>
        </p:nvSpPr>
        <p:spPr>
          <a:xfrm>
            <a:off x="1685100" y="1745933"/>
            <a:ext cx="8876400" cy="20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 Condensed"/>
              <a:buNone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7237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Highlight 2" preserve="1">
  <p:cSld name="Title and Body - Highlight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4"/>
          <p:cNvSpPr txBox="1">
            <a:spLocks noGrp="1"/>
          </p:cNvSpPr>
          <p:nvPr>
            <p:ph type="title"/>
          </p:nvPr>
        </p:nvSpPr>
        <p:spPr>
          <a:xfrm>
            <a:off x="436605" y="255716"/>
            <a:ext cx="113104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  <a:defRPr sz="4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4" name="Google Shape;24;p44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2000" i="0" u="none" strike="noStrike" cap="none">
                <a:solidFill>
                  <a:schemeClr val="dk1"/>
                </a:solidFill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6pPr>
            <a:lvl7pPr marL="3200400" marR="0" lvl="6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7pPr>
            <a:lvl8pPr marL="3657600" marR="0" lvl="7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8pPr>
            <a:lvl9pPr marL="4114800" marR="0" lvl="8" indent="-311150" algn="l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4"/>
          <p:cNvSpPr/>
          <p:nvPr/>
        </p:nvSpPr>
        <p:spPr>
          <a:xfrm rot="5400000">
            <a:off x="-293000" y="650100"/>
            <a:ext cx="686800" cy="100800"/>
          </a:xfrm>
          <a:prstGeom prst="rect">
            <a:avLst/>
          </a:prstGeom>
          <a:solidFill>
            <a:srgbClr val="EFC41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1939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- Right" preserve="1">
  <p:cSld name="One Column - Righ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5"/>
          <p:cNvSpPr txBox="1">
            <a:spLocks noGrp="1"/>
          </p:cNvSpPr>
          <p:nvPr>
            <p:ph type="title"/>
          </p:nvPr>
        </p:nvSpPr>
        <p:spPr>
          <a:xfrm>
            <a:off x="436605" y="255716"/>
            <a:ext cx="113104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  <a:defRPr sz="5067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28" name="Google Shape;28;p45"/>
          <p:cNvSpPr txBox="1">
            <a:spLocks noGrp="1"/>
          </p:cNvSpPr>
          <p:nvPr>
            <p:ph type="body" idx="1"/>
          </p:nvPr>
        </p:nvSpPr>
        <p:spPr>
          <a:xfrm>
            <a:off x="6306533" y="1297100"/>
            <a:ext cx="5531600" cy="5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20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1150" algn="l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374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- Left" preserve="1">
  <p:cSld name="One column - Lef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6"/>
          <p:cNvSpPr txBox="1">
            <a:spLocks noGrp="1"/>
          </p:cNvSpPr>
          <p:nvPr>
            <p:ph type="title"/>
          </p:nvPr>
        </p:nvSpPr>
        <p:spPr>
          <a:xfrm>
            <a:off x="436605" y="255716"/>
            <a:ext cx="113104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  <a:defRPr sz="5067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31" name="Google Shape;31;p46"/>
          <p:cNvSpPr txBox="1">
            <a:spLocks noGrp="1"/>
          </p:cNvSpPr>
          <p:nvPr>
            <p:ph type="body" idx="1"/>
          </p:nvPr>
        </p:nvSpPr>
        <p:spPr>
          <a:xfrm>
            <a:off x="436600" y="1297100"/>
            <a:ext cx="5531600" cy="5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20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1150" algn="l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733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end" preserve="1">
  <p:cSld name="The end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7"/>
          <p:cNvSpPr txBox="1">
            <a:spLocks noGrp="1"/>
          </p:cNvSpPr>
          <p:nvPr>
            <p:ph type="title"/>
          </p:nvPr>
        </p:nvSpPr>
        <p:spPr>
          <a:xfrm>
            <a:off x="372767" y="2838433"/>
            <a:ext cx="11446400" cy="2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 Condensed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7702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[BG]" preserve="1">
  <p:cSld name="Title Only [BG]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 txBox="1">
            <a:spLocks noGrp="1"/>
          </p:cNvSpPr>
          <p:nvPr>
            <p:ph type="title"/>
          </p:nvPr>
        </p:nvSpPr>
        <p:spPr>
          <a:xfrm>
            <a:off x="436605" y="255716"/>
            <a:ext cx="113104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51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 end" preserve="1">
  <p:cSld name="The end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1"/>
          <p:cNvSpPr txBox="1">
            <a:spLocks noGrp="1"/>
          </p:cNvSpPr>
          <p:nvPr>
            <p:ph type="title"/>
          </p:nvPr>
        </p:nvSpPr>
        <p:spPr>
          <a:xfrm>
            <a:off x="372767" y="2838433"/>
            <a:ext cx="11446400" cy="20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 Condensed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3508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9"/>
          <p:cNvSpPr txBox="1">
            <a:spLocks noGrp="1"/>
          </p:cNvSpPr>
          <p:nvPr>
            <p:ph type="ctrTitle"/>
          </p:nvPr>
        </p:nvSpPr>
        <p:spPr>
          <a:xfrm>
            <a:off x="4636643" y="4898876"/>
            <a:ext cx="7162800" cy="7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Condensed"/>
              <a:buNone/>
              <a:defRPr sz="40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subTitle" idx="1"/>
          </p:nvPr>
        </p:nvSpPr>
        <p:spPr>
          <a:xfrm>
            <a:off x="4664268" y="5432447"/>
            <a:ext cx="7125600" cy="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 Condensed"/>
              <a:buNone/>
              <a:defRPr sz="2267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20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1867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"/>
              <a:buNone/>
              <a:defRPr sz="16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4581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[BG]" preserve="1">
  <p:cSld name="Blank [BG]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4509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 preserve="1">
  <p:cSld name="Section header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1"/>
          <p:cNvSpPr txBox="1">
            <a:spLocks noGrp="1"/>
          </p:cNvSpPr>
          <p:nvPr>
            <p:ph type="ctrTitle"/>
          </p:nvPr>
        </p:nvSpPr>
        <p:spPr>
          <a:xfrm>
            <a:off x="1685100" y="1745933"/>
            <a:ext cx="8876400" cy="20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Roboto Condensed"/>
              <a:buNone/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2193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[BG]" preserve="1">
  <p:cSld name="Title and Body [BG]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2"/>
          <p:cNvSpPr txBox="1">
            <a:spLocks noGrp="1"/>
          </p:cNvSpPr>
          <p:nvPr>
            <p:ph type="title"/>
          </p:nvPr>
        </p:nvSpPr>
        <p:spPr>
          <a:xfrm>
            <a:off x="436605" y="255716"/>
            <a:ext cx="113104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  <a:defRPr sz="5067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2000" i="0" u="none" strike="noStrike" cap="none">
                <a:solidFill>
                  <a:schemeClr val="dk1"/>
                </a:solidFill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6pPr>
            <a:lvl7pPr marL="3200400" marR="0" lvl="6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7pPr>
            <a:lvl8pPr marL="3657600" marR="0" lvl="7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8pPr>
            <a:lvl9pPr marL="4114800" marR="0" lvl="8" indent="-311150" algn="l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22310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Highlight 2" preserve="1">
  <p:cSld name="Title and Body - Highlight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 txBox="1">
            <a:spLocks noGrp="1"/>
          </p:cNvSpPr>
          <p:nvPr>
            <p:ph type="title"/>
          </p:nvPr>
        </p:nvSpPr>
        <p:spPr>
          <a:xfrm>
            <a:off x="436605" y="255716"/>
            <a:ext cx="113104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  <a:defRPr sz="5067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55" name="Google Shape;55;p53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2000" i="0" u="none" strike="noStrike" cap="none">
                <a:solidFill>
                  <a:schemeClr val="dk1"/>
                </a:solidFill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6pPr>
            <a:lvl7pPr marL="3200400" marR="0" lvl="6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7pPr>
            <a:lvl8pPr marL="3657600" marR="0" lvl="7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8pPr>
            <a:lvl9pPr marL="4114800" marR="0" lvl="8" indent="-311150" algn="l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300"/>
              <a:buChar char="•"/>
              <a:defRPr sz="1733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3"/>
          <p:cNvSpPr/>
          <p:nvPr/>
        </p:nvSpPr>
        <p:spPr>
          <a:xfrm rot="5400000">
            <a:off x="-293000" y="650100"/>
            <a:ext cx="686800" cy="100800"/>
          </a:xfrm>
          <a:prstGeom prst="rect">
            <a:avLst/>
          </a:prstGeom>
          <a:solidFill>
            <a:srgbClr val="EFC41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0953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- Right" preserve="1">
  <p:cSld name="One Column - Righ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4"/>
          <p:cNvSpPr txBox="1">
            <a:spLocks noGrp="1"/>
          </p:cNvSpPr>
          <p:nvPr>
            <p:ph type="title"/>
          </p:nvPr>
        </p:nvSpPr>
        <p:spPr>
          <a:xfrm>
            <a:off x="436605" y="255716"/>
            <a:ext cx="113104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  <a:defRPr sz="5067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59" name="Google Shape;59;p54"/>
          <p:cNvSpPr txBox="1">
            <a:spLocks noGrp="1"/>
          </p:cNvSpPr>
          <p:nvPr>
            <p:ph type="body" idx="1"/>
          </p:nvPr>
        </p:nvSpPr>
        <p:spPr>
          <a:xfrm>
            <a:off x="6306533" y="1297100"/>
            <a:ext cx="5531600" cy="5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20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1150" algn="l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8500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- Left" preserve="1">
  <p:cSld name="One column - Lef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5"/>
          <p:cNvSpPr txBox="1">
            <a:spLocks noGrp="1"/>
          </p:cNvSpPr>
          <p:nvPr>
            <p:ph type="title"/>
          </p:nvPr>
        </p:nvSpPr>
        <p:spPr>
          <a:xfrm>
            <a:off x="436605" y="255716"/>
            <a:ext cx="113104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  <a:defRPr sz="5067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62" name="Google Shape;62;p55"/>
          <p:cNvSpPr txBox="1">
            <a:spLocks noGrp="1"/>
          </p:cNvSpPr>
          <p:nvPr>
            <p:ph type="body" idx="1"/>
          </p:nvPr>
        </p:nvSpPr>
        <p:spPr>
          <a:xfrm>
            <a:off x="436600" y="1297100"/>
            <a:ext cx="5531600" cy="5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200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115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1150" algn="l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1150" algn="l">
              <a:lnSpc>
                <a:spcPct val="115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300"/>
              <a:buFont typeface="Roboto Condensed"/>
              <a:buChar char="•"/>
              <a:defRPr sz="1733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2950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[BG]" preserve="1">
  <p:cSld name="Title Only [BG]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6"/>
          <p:cNvSpPr txBox="1">
            <a:spLocks noGrp="1"/>
          </p:cNvSpPr>
          <p:nvPr>
            <p:ph type="title"/>
          </p:nvPr>
        </p:nvSpPr>
        <p:spPr>
          <a:xfrm>
            <a:off x="436605" y="255716"/>
            <a:ext cx="113104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611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>
            <a:spLocks noGrp="1"/>
          </p:cNvSpPr>
          <p:nvPr>
            <p:ph type="title"/>
          </p:nvPr>
        </p:nvSpPr>
        <p:spPr>
          <a:xfrm>
            <a:off x="436605" y="255716"/>
            <a:ext cx="113104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  <a:defRPr sz="3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37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15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115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115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115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115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115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115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115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1150" algn="just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97542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0"/>
          <p:cNvSpPr txBox="1">
            <a:spLocks noGrp="1"/>
          </p:cNvSpPr>
          <p:nvPr>
            <p:ph type="title"/>
          </p:nvPr>
        </p:nvSpPr>
        <p:spPr>
          <a:xfrm>
            <a:off x="436605" y="255716"/>
            <a:ext cx="11310400" cy="8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  <a:defRPr sz="38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40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 Condensed"/>
              <a:buNone/>
              <a:defRPr sz="15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marR="0" lvl="1" indent="-31115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marR="0" lvl="2" indent="-31115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marR="0" lvl="3" indent="-31115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marR="0" lvl="4" indent="-31115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marR="0" lvl="5" indent="-31115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marR="0" lvl="6" indent="-31115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marR="0" lvl="7" indent="-31115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marR="0" lvl="8" indent="-311150" algn="just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300"/>
              <a:buFont typeface="Roboto Condensed"/>
              <a:buChar char="•"/>
              <a:defRPr sz="13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36856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gitlab.banvien.com/training/c_cpp/tree/test_hieunguye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gitlab.banvien.com/training/c_cpp/tree/test_hieunguye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gitlab.banvien.com/training/c_cpp/tree/test_hieunguye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>
            <a:spLocks noGrp="1"/>
          </p:cNvSpPr>
          <p:nvPr>
            <p:ph type="ctrTitle"/>
          </p:nvPr>
        </p:nvSpPr>
        <p:spPr>
          <a:xfrm>
            <a:off x="4636643" y="4898876"/>
            <a:ext cx="7162800" cy="7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dirty="0"/>
              <a:t>Bash Basic</a:t>
            </a:r>
            <a:endParaRPr dirty="0"/>
          </a:p>
        </p:txBody>
      </p:sp>
      <p:sp>
        <p:nvSpPr>
          <p:cNvPr id="70" name="Google Shape;70;p1"/>
          <p:cNvSpPr txBox="1">
            <a:spLocks noGrp="1"/>
          </p:cNvSpPr>
          <p:nvPr>
            <p:ph type="subTitle" idx="1"/>
          </p:nvPr>
        </p:nvSpPr>
        <p:spPr>
          <a:xfrm>
            <a:off x="4664268" y="5432447"/>
            <a:ext cx="7125600" cy="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SzPts val="1700"/>
              <a:buNone/>
            </a:pPr>
            <a:r>
              <a:rPr lang="en-US"/>
              <a:t>Dec, 2019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41809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4800"/>
              <a:t>Contents</a:t>
            </a:r>
            <a:endParaRPr sz="4800"/>
          </a:p>
        </p:txBody>
      </p:sp>
      <p:sp>
        <p:nvSpPr>
          <p:cNvPr id="76" name="Google Shape;76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647693" lvl="0" indent="-34290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❖"/>
            </a:pPr>
            <a:r>
              <a:rPr lang="en-US" sz="1850" dirty="0"/>
              <a:t>UNIX Basic Command</a:t>
            </a:r>
            <a:endParaRPr dirty="0"/>
          </a:p>
          <a:p>
            <a:pPr marL="647693" lvl="0" indent="-34290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❖"/>
            </a:pPr>
            <a:r>
              <a:rPr lang="en-US" sz="1850" dirty="0"/>
              <a:t>Regular Expression Basic</a:t>
            </a:r>
            <a:endParaRPr dirty="0"/>
          </a:p>
          <a:p>
            <a:pPr marL="647693" lvl="0" indent="-34290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❖"/>
            </a:pPr>
            <a:r>
              <a:rPr lang="en-US" sz="1850" dirty="0" err="1"/>
              <a:t>Grep</a:t>
            </a:r>
            <a:r>
              <a:rPr lang="en-US" sz="1850" dirty="0"/>
              <a:t> command</a:t>
            </a:r>
            <a:endParaRPr dirty="0"/>
          </a:p>
          <a:p>
            <a:pPr marL="647693" lvl="0" indent="-34290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❖"/>
            </a:pPr>
            <a:r>
              <a:rPr lang="en-US" sz="1850" dirty="0" err="1"/>
              <a:t>Sed</a:t>
            </a:r>
            <a:r>
              <a:rPr lang="en-US" sz="1850" dirty="0"/>
              <a:t> command</a:t>
            </a:r>
            <a:endParaRPr dirty="0"/>
          </a:p>
          <a:p>
            <a:pPr marL="647693" lvl="0" indent="-34290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❖"/>
            </a:pPr>
            <a:r>
              <a:rPr lang="en-US" sz="1850" dirty="0" err="1"/>
              <a:t>Awk</a:t>
            </a:r>
            <a:r>
              <a:rPr lang="en-US" sz="1850" dirty="0"/>
              <a:t> command</a:t>
            </a:r>
            <a:endParaRPr dirty="0"/>
          </a:p>
          <a:p>
            <a:pPr marL="647693" lvl="0" indent="-34290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❖"/>
            </a:pPr>
            <a:r>
              <a:rPr lang="en-US" sz="1850" dirty="0"/>
              <a:t>Bash language</a:t>
            </a:r>
            <a:endParaRPr dirty="0"/>
          </a:p>
          <a:p>
            <a:pPr marL="1257278" lvl="1" indent="-342900" algn="l" rtl="0">
              <a:lnSpc>
                <a:spcPct val="10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❖"/>
            </a:pPr>
            <a:r>
              <a:rPr lang="en-US" sz="1603" dirty="0"/>
              <a:t>Variable</a:t>
            </a:r>
            <a:endParaRPr dirty="0"/>
          </a:p>
          <a:p>
            <a:pPr marL="1257278" lvl="1" indent="-342900" algn="l" rtl="0">
              <a:lnSpc>
                <a:spcPct val="10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❖"/>
            </a:pPr>
            <a:r>
              <a:rPr lang="en-US" sz="1665" dirty="0"/>
              <a:t>Arithmetic Expansion</a:t>
            </a:r>
            <a:endParaRPr dirty="0"/>
          </a:p>
          <a:p>
            <a:pPr marL="1257278" lvl="1" indent="-342900" algn="l" rtl="0">
              <a:lnSpc>
                <a:spcPct val="10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❖"/>
            </a:pPr>
            <a:r>
              <a:rPr lang="en-US" sz="1665" dirty="0"/>
              <a:t>Function</a:t>
            </a:r>
            <a:endParaRPr dirty="0"/>
          </a:p>
          <a:p>
            <a:pPr marL="1257278" lvl="1" indent="-342900" algn="l" rtl="0">
              <a:lnSpc>
                <a:spcPct val="10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❖"/>
            </a:pPr>
            <a:r>
              <a:rPr lang="en-US" sz="1665" dirty="0"/>
              <a:t>Reading User Input</a:t>
            </a:r>
            <a:endParaRPr dirty="0"/>
          </a:p>
          <a:p>
            <a:pPr marL="1257278" lvl="1" indent="-342900" algn="l" rtl="0">
              <a:lnSpc>
                <a:spcPct val="10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❖"/>
            </a:pPr>
            <a:r>
              <a:rPr lang="en-US" sz="1665" dirty="0"/>
              <a:t>Flow Control</a:t>
            </a:r>
            <a:endParaRPr dirty="0"/>
          </a:p>
          <a:p>
            <a:pPr marL="1257278" lvl="1" indent="-342900" algn="l" rtl="0">
              <a:lnSpc>
                <a:spcPct val="10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❖"/>
            </a:pPr>
            <a:r>
              <a:rPr lang="en-US" sz="1665" dirty="0"/>
              <a:t>Loop</a:t>
            </a:r>
            <a:endParaRPr dirty="0"/>
          </a:p>
          <a:p>
            <a:pPr marL="1257278" lvl="1" indent="-342900" algn="l" rtl="0">
              <a:lnSpc>
                <a:spcPct val="10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❖"/>
            </a:pPr>
            <a:r>
              <a:rPr lang="en-US" sz="1665" dirty="0"/>
              <a:t>Exercise</a:t>
            </a:r>
            <a:endParaRPr sz="1603" dirty="0"/>
          </a:p>
        </p:txBody>
      </p:sp>
    </p:spTree>
    <p:extLst>
      <p:ext uri="{BB962C8B-B14F-4D97-AF65-F5344CB8AC3E}">
        <p14:creationId xmlns:p14="http://schemas.microsoft.com/office/powerpoint/2010/main" val="379989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UNIX Basic Command</a:t>
            </a:r>
            <a:endParaRPr/>
          </a:p>
        </p:txBody>
      </p:sp>
      <p:sp>
        <p:nvSpPr>
          <p:cNvPr id="84" name="Google Shape;84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/>
              <a:t>Navigating Files and Directories:</a:t>
            </a:r>
            <a:endParaRPr dirty="0"/>
          </a:p>
          <a:p>
            <a:pPr marL="971550" lvl="1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cd &lt;path&gt;</a:t>
            </a:r>
            <a:r>
              <a:rPr lang="en-US" dirty="0"/>
              <a:t>: changes the current working directory.</a:t>
            </a:r>
            <a:endParaRPr dirty="0"/>
          </a:p>
          <a:p>
            <a:pPr marL="971550" lvl="1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ls &lt;path&gt;</a:t>
            </a:r>
            <a:r>
              <a:rPr lang="en-US" dirty="0"/>
              <a:t>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prints a listing of a specific file or directory; </a:t>
            </a:r>
            <a:r>
              <a:rPr lang="en-US" dirty="0">
                <a:solidFill>
                  <a:srgbClr val="FF0000"/>
                </a:solidFill>
              </a:rPr>
              <a:t>ls</a:t>
            </a:r>
            <a:r>
              <a:rPr lang="en-US" dirty="0"/>
              <a:t> on its own lists the current working director (Ex: ls &lt;path&gt;, ls –l &lt;path&gt;, ls –la &lt;path&gt;, …)</a:t>
            </a:r>
            <a:endParaRPr dirty="0"/>
          </a:p>
          <a:p>
            <a:pPr marL="971550" lvl="1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</a:rPr>
              <a:t>pwd</a:t>
            </a:r>
            <a:r>
              <a:rPr lang="en-US" dirty="0"/>
              <a:t>: prints the user’s current working directory.</a:t>
            </a:r>
            <a:endParaRPr dirty="0"/>
          </a:p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/>
              <a:t>Working With Files and Directories</a:t>
            </a:r>
            <a:endParaRPr dirty="0"/>
          </a:p>
          <a:p>
            <a:pPr marL="971550" lvl="1" indent="-285750">
              <a:lnSpc>
                <a:spcPct val="114000"/>
              </a:lnSpc>
              <a:spcBef>
                <a:spcPts val="0"/>
              </a:spcBef>
              <a:buSzPts val="1500"/>
            </a:pPr>
            <a:r>
              <a:rPr lang="en-US" dirty="0" err="1">
                <a:solidFill>
                  <a:srgbClr val="FF0000"/>
                </a:solidFill>
              </a:rPr>
              <a:t>cp</a:t>
            </a:r>
            <a:r>
              <a:rPr lang="en-US" dirty="0">
                <a:solidFill>
                  <a:srgbClr val="FF0000"/>
                </a:solidFill>
              </a:rPr>
              <a:t> &lt;old&gt; &lt;new&gt;</a:t>
            </a:r>
            <a:r>
              <a:rPr lang="en-US" dirty="0"/>
              <a:t>: copies a file.</a:t>
            </a:r>
            <a:endParaRPr dirty="0"/>
          </a:p>
          <a:p>
            <a:pPr marL="971550" lvl="1" indent="-285750">
              <a:lnSpc>
                <a:spcPct val="114000"/>
              </a:lnSpc>
              <a:spcBef>
                <a:spcPts val="0"/>
              </a:spcBef>
              <a:buSzPts val="1500"/>
            </a:pPr>
            <a:r>
              <a:rPr lang="en-US" dirty="0" err="1">
                <a:solidFill>
                  <a:srgbClr val="FF0000"/>
                </a:solidFill>
              </a:rPr>
              <a:t>mkdir</a:t>
            </a:r>
            <a:r>
              <a:rPr lang="en-US" dirty="0">
                <a:solidFill>
                  <a:srgbClr val="FF0000"/>
                </a:solidFill>
              </a:rPr>
              <a:t> &lt;path&gt;</a:t>
            </a:r>
            <a:r>
              <a:rPr lang="en-US" dirty="0"/>
              <a:t>: creates a new directory. (Ex: </a:t>
            </a:r>
            <a:r>
              <a:rPr lang="en-US" dirty="0" err="1"/>
              <a:t>mkdir</a:t>
            </a:r>
            <a:r>
              <a:rPr lang="en-US" dirty="0"/>
              <a:t> &lt;path&gt;, </a:t>
            </a:r>
            <a:r>
              <a:rPr lang="en-US" dirty="0" err="1"/>
              <a:t>mkdir</a:t>
            </a:r>
            <a:r>
              <a:rPr lang="en-US" dirty="0"/>
              <a:t> –p &lt;path&gt;, …).</a:t>
            </a:r>
            <a:endParaRPr dirty="0"/>
          </a:p>
          <a:p>
            <a:pPr marL="971550" lvl="1" indent="-285750">
              <a:lnSpc>
                <a:spcPct val="114000"/>
              </a:lnSpc>
              <a:spcBef>
                <a:spcPts val="0"/>
              </a:spcBef>
              <a:buSzPts val="1500"/>
            </a:pPr>
            <a:r>
              <a:rPr lang="en-US" dirty="0">
                <a:solidFill>
                  <a:srgbClr val="FF0000"/>
                </a:solidFill>
              </a:rPr>
              <a:t>mv &lt;old&gt; &lt;new&gt;</a:t>
            </a:r>
            <a:r>
              <a:rPr lang="en-US" dirty="0"/>
              <a:t>: moves (renames) a file or directory.</a:t>
            </a:r>
            <a:endParaRPr dirty="0"/>
          </a:p>
          <a:p>
            <a:pPr marL="971550" lvl="1" indent="-285750">
              <a:lnSpc>
                <a:spcPct val="114000"/>
              </a:lnSpc>
              <a:spcBef>
                <a:spcPts val="0"/>
              </a:spcBef>
              <a:buSzPts val="1500"/>
            </a:pPr>
            <a:r>
              <a:rPr lang="en-US" dirty="0" err="1">
                <a:solidFill>
                  <a:srgbClr val="FF0000"/>
                </a:solidFill>
              </a:rPr>
              <a:t>rm</a:t>
            </a:r>
            <a:r>
              <a:rPr lang="en-US" dirty="0">
                <a:solidFill>
                  <a:srgbClr val="FF0000"/>
                </a:solidFill>
              </a:rPr>
              <a:t> &lt;path&gt;</a:t>
            </a:r>
            <a:r>
              <a:rPr lang="en-US" dirty="0"/>
              <a:t>: removes (deletes) a file. (Ex: </a:t>
            </a:r>
            <a:r>
              <a:rPr lang="en-US" dirty="0" err="1"/>
              <a:t>rm</a:t>
            </a:r>
            <a:r>
              <a:rPr lang="en-US" dirty="0"/>
              <a:t> &lt;path&gt;, </a:t>
            </a:r>
            <a:r>
              <a:rPr lang="en-US" dirty="0" err="1"/>
              <a:t>rm</a:t>
            </a:r>
            <a:r>
              <a:rPr lang="en-US" dirty="0"/>
              <a:t> –</a:t>
            </a:r>
            <a:r>
              <a:rPr lang="en-US" dirty="0" err="1"/>
              <a:t>rf</a:t>
            </a:r>
            <a:r>
              <a:rPr lang="en-US" dirty="0"/>
              <a:t> &lt;path&gt;, …).</a:t>
            </a:r>
            <a:endParaRPr dirty="0"/>
          </a:p>
          <a:p>
            <a:pPr marL="971550" lvl="1" indent="-285750">
              <a:lnSpc>
                <a:spcPct val="114000"/>
              </a:lnSpc>
              <a:spcBef>
                <a:spcPts val="0"/>
              </a:spcBef>
              <a:buSzPts val="1500"/>
            </a:pPr>
            <a:r>
              <a:rPr lang="en-US" dirty="0">
                <a:solidFill>
                  <a:srgbClr val="FF0000"/>
                </a:solidFill>
              </a:rPr>
              <a:t>touch &lt;file&gt;</a:t>
            </a:r>
            <a:r>
              <a:rPr lang="en-US" dirty="0"/>
              <a:t>: update timestamps on files.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160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UNIX Basic Command</a:t>
            </a:r>
            <a:endParaRPr/>
          </a:p>
        </p:txBody>
      </p:sp>
      <p:sp>
        <p:nvSpPr>
          <p:cNvPr id="91" name="Google Shape;91;p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/>
              <a:t>Pipes and Filters</a:t>
            </a:r>
            <a:endParaRPr dirty="0"/>
          </a:p>
          <a:p>
            <a:pPr marL="971550" lvl="1" indent="-285750"/>
            <a:r>
              <a:rPr lang="en-US" dirty="0">
                <a:solidFill>
                  <a:srgbClr val="FF0000"/>
                </a:solidFill>
              </a:rPr>
              <a:t>cat</a:t>
            </a:r>
            <a:r>
              <a:rPr lang="en-US" dirty="0"/>
              <a:t>: displays the contents of its inputs.</a:t>
            </a:r>
            <a:endParaRPr dirty="0"/>
          </a:p>
          <a:p>
            <a:pPr marL="971550" lvl="1" indent="-285750"/>
            <a:r>
              <a:rPr lang="en-US" dirty="0">
                <a:solidFill>
                  <a:srgbClr val="FF0000"/>
                </a:solidFill>
              </a:rPr>
              <a:t>head</a:t>
            </a:r>
            <a:r>
              <a:rPr lang="en-US" dirty="0"/>
              <a:t>: displays the first 10 lines of its input.</a:t>
            </a:r>
            <a:endParaRPr dirty="0"/>
          </a:p>
          <a:p>
            <a:pPr marL="971550" lvl="1" indent="-285750"/>
            <a:r>
              <a:rPr lang="en-US" dirty="0">
                <a:solidFill>
                  <a:srgbClr val="FF0000"/>
                </a:solidFill>
              </a:rPr>
              <a:t>tail</a:t>
            </a:r>
            <a:r>
              <a:rPr lang="en-US" dirty="0"/>
              <a:t>: displays the last 10 lines of its input.</a:t>
            </a:r>
            <a:endParaRPr dirty="0"/>
          </a:p>
          <a:p>
            <a:pPr marL="971550" lvl="1" indent="-285750"/>
            <a:r>
              <a:rPr lang="en-US" dirty="0">
                <a:solidFill>
                  <a:srgbClr val="FF0000"/>
                </a:solidFill>
              </a:rPr>
              <a:t>sort</a:t>
            </a:r>
            <a:r>
              <a:rPr lang="en-US" dirty="0"/>
              <a:t>: sorts its inputs. (Ex: sort, sort –d, sort –u, sort -n …).</a:t>
            </a:r>
            <a:endParaRPr dirty="0"/>
          </a:p>
          <a:p>
            <a:pPr marL="971550" lvl="1" indent="-285750"/>
            <a:r>
              <a:rPr lang="en-US" dirty="0" err="1">
                <a:solidFill>
                  <a:srgbClr val="FF0000"/>
                </a:solidFill>
              </a:rPr>
              <a:t>wc</a:t>
            </a:r>
            <a:r>
              <a:rPr lang="en-US" dirty="0"/>
              <a:t>: counts lines, words, and characters in its inputs. (Ex: </a:t>
            </a:r>
            <a:r>
              <a:rPr lang="en-US" dirty="0" err="1"/>
              <a:t>wc</a:t>
            </a:r>
            <a:r>
              <a:rPr lang="en-US" dirty="0"/>
              <a:t> –l, </a:t>
            </a:r>
            <a:r>
              <a:rPr lang="en-US" dirty="0" err="1"/>
              <a:t>wc</a:t>
            </a:r>
            <a:r>
              <a:rPr lang="en-US" dirty="0"/>
              <a:t> –c, …)</a:t>
            </a:r>
            <a:endParaRPr dirty="0"/>
          </a:p>
          <a:p>
            <a:pPr marL="971550" lvl="1" indent="-285750"/>
            <a:r>
              <a:rPr lang="en-US" dirty="0">
                <a:solidFill>
                  <a:srgbClr val="FF0000"/>
                </a:solidFill>
              </a:rPr>
              <a:t>command &gt; file</a:t>
            </a:r>
            <a:r>
              <a:rPr lang="en-US" dirty="0"/>
              <a:t>: redirects a </a:t>
            </a:r>
            <a:r>
              <a:rPr lang="en-US" b="1" dirty="0"/>
              <a:t>command</a:t>
            </a:r>
            <a:r>
              <a:rPr lang="en-US" dirty="0"/>
              <a:t>’s output to a </a:t>
            </a:r>
            <a:r>
              <a:rPr lang="en-US" b="1" dirty="0"/>
              <a:t>file</a:t>
            </a:r>
            <a:r>
              <a:rPr lang="en-US" dirty="0"/>
              <a:t> (overwriting any existing content).</a:t>
            </a:r>
            <a:endParaRPr dirty="0"/>
          </a:p>
          <a:p>
            <a:pPr marL="971550" lvl="1" indent="-285750"/>
            <a:r>
              <a:rPr lang="en-US" dirty="0">
                <a:solidFill>
                  <a:srgbClr val="FF0000"/>
                </a:solidFill>
              </a:rPr>
              <a:t>command &gt;&gt; file</a:t>
            </a:r>
            <a:r>
              <a:rPr lang="en-US" dirty="0"/>
              <a:t>: appends a </a:t>
            </a:r>
            <a:r>
              <a:rPr lang="en-US" b="1" dirty="0"/>
              <a:t>command</a:t>
            </a:r>
            <a:r>
              <a:rPr lang="en-US" dirty="0"/>
              <a:t>’s output to a </a:t>
            </a:r>
            <a:r>
              <a:rPr lang="en-US" b="1" dirty="0"/>
              <a:t>file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717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UNIX Basic Command</a:t>
            </a:r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/>
              <a:t>Finding Some Things</a:t>
            </a:r>
            <a:endParaRPr dirty="0"/>
          </a:p>
          <a:p>
            <a:pPr marL="971550" lvl="1" indent="-285750"/>
            <a:r>
              <a:rPr lang="en-US" dirty="0">
                <a:solidFill>
                  <a:srgbClr val="FF0000"/>
                </a:solidFill>
              </a:rPr>
              <a:t>find</a:t>
            </a:r>
            <a:r>
              <a:rPr lang="en-US" dirty="0"/>
              <a:t>: </a:t>
            </a:r>
            <a:r>
              <a:rPr lang="en-US" dirty="0">
                <a:solidFill>
                  <a:schemeClr val="dk1"/>
                </a:solidFill>
              </a:rPr>
              <a:t>finds files with specific properties that match patterns. (Ex: find &lt;path&gt; –</a:t>
            </a:r>
            <a:r>
              <a:rPr lang="en-US" dirty="0" err="1">
                <a:solidFill>
                  <a:schemeClr val="dk1"/>
                </a:solidFill>
              </a:rPr>
              <a:t>iname</a:t>
            </a:r>
            <a:r>
              <a:rPr lang="en-US" dirty="0">
                <a:solidFill>
                  <a:schemeClr val="dk1"/>
                </a:solidFill>
              </a:rPr>
              <a:t> “*.txt”, find &lt;path&gt; -type &lt;argument&gt;, …)</a:t>
            </a:r>
            <a:endParaRPr dirty="0"/>
          </a:p>
          <a:p>
            <a:pPr marL="971550" lvl="1" indent="-285750"/>
            <a:r>
              <a:rPr lang="en-US" dirty="0" err="1">
                <a:solidFill>
                  <a:srgbClr val="FF0000"/>
                </a:solidFill>
              </a:rPr>
              <a:t>grep</a:t>
            </a:r>
            <a:r>
              <a:rPr lang="en-US" dirty="0"/>
              <a:t>: </a:t>
            </a:r>
            <a:r>
              <a:rPr lang="en-US" dirty="0">
                <a:solidFill>
                  <a:schemeClr val="dk1"/>
                </a:solidFill>
              </a:rPr>
              <a:t>selects lines in files that match patterns. (Ex: </a:t>
            </a:r>
            <a:r>
              <a:rPr lang="en-US" dirty="0" err="1">
                <a:solidFill>
                  <a:schemeClr val="dk1"/>
                </a:solidFill>
              </a:rPr>
              <a:t>grep</a:t>
            </a:r>
            <a:r>
              <a:rPr lang="en-US" dirty="0">
                <a:solidFill>
                  <a:schemeClr val="dk1"/>
                </a:solidFill>
              </a:rPr>
              <a:t> &lt;pattern&gt; &lt;file&gt;, </a:t>
            </a:r>
            <a:r>
              <a:rPr lang="en-US" dirty="0" err="1">
                <a:solidFill>
                  <a:schemeClr val="dk1"/>
                </a:solidFill>
              </a:rPr>
              <a:t>grep</a:t>
            </a:r>
            <a:r>
              <a:rPr lang="en-US" dirty="0">
                <a:solidFill>
                  <a:schemeClr val="dk1"/>
                </a:solidFill>
              </a:rPr>
              <a:t> –c, </a:t>
            </a:r>
            <a:r>
              <a:rPr lang="en-US" dirty="0" err="1">
                <a:solidFill>
                  <a:schemeClr val="dk1"/>
                </a:solidFill>
              </a:rPr>
              <a:t>grep</a:t>
            </a:r>
            <a:r>
              <a:rPr lang="en-US" dirty="0">
                <a:solidFill>
                  <a:schemeClr val="dk1"/>
                </a:solidFill>
              </a:rPr>
              <a:t> –e, </a:t>
            </a:r>
            <a:r>
              <a:rPr lang="en-US" dirty="0" err="1">
                <a:solidFill>
                  <a:schemeClr val="dk1"/>
                </a:solidFill>
              </a:rPr>
              <a:t>grep</a:t>
            </a:r>
            <a:r>
              <a:rPr lang="en-US" dirty="0">
                <a:solidFill>
                  <a:schemeClr val="dk1"/>
                </a:solidFill>
              </a:rPr>
              <a:t> –</a:t>
            </a:r>
            <a:r>
              <a:rPr lang="en-US" dirty="0" err="1">
                <a:solidFill>
                  <a:schemeClr val="dk1"/>
                </a:solidFill>
              </a:rPr>
              <a:t>i</a:t>
            </a:r>
            <a:r>
              <a:rPr lang="en-US" dirty="0">
                <a:solidFill>
                  <a:schemeClr val="dk1"/>
                </a:solidFill>
              </a:rPr>
              <a:t>, </a:t>
            </a:r>
            <a:r>
              <a:rPr lang="en-US" dirty="0" err="1">
                <a:solidFill>
                  <a:schemeClr val="dk1"/>
                </a:solidFill>
              </a:rPr>
              <a:t>grep</a:t>
            </a:r>
            <a:r>
              <a:rPr lang="en-US" dirty="0">
                <a:solidFill>
                  <a:schemeClr val="dk1"/>
                </a:solidFill>
              </a:rPr>
              <a:t> –v, …)</a:t>
            </a:r>
            <a:endParaRPr dirty="0">
              <a:solidFill>
                <a:schemeClr val="dk1"/>
              </a:solidFill>
            </a:endParaRPr>
          </a:p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Debug</a:t>
            </a:r>
            <a:endParaRPr dirty="0"/>
          </a:p>
          <a:p>
            <a:pPr marL="1123935" lvl="1" indent="-285750"/>
            <a:r>
              <a:rPr lang="en-US" dirty="0">
                <a:solidFill>
                  <a:srgbClr val="FF0000"/>
                </a:solidFill>
              </a:rPr>
              <a:t>echo &lt;text&gt;</a:t>
            </a:r>
            <a:r>
              <a:rPr lang="en-US" dirty="0"/>
              <a:t>: </a:t>
            </a:r>
            <a:r>
              <a:rPr lang="en-US" dirty="0">
                <a:solidFill>
                  <a:schemeClr val="dk1"/>
                </a:solidFill>
              </a:rPr>
              <a:t>print text to monitor</a:t>
            </a:r>
            <a:endParaRPr dirty="0"/>
          </a:p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Help</a:t>
            </a:r>
            <a:endParaRPr dirty="0">
              <a:solidFill>
                <a:schemeClr val="dk1"/>
              </a:solidFill>
            </a:endParaRPr>
          </a:p>
          <a:p>
            <a:pPr marL="971550" lvl="1" indent="-285750"/>
            <a:r>
              <a:rPr lang="en-US" dirty="0">
                <a:solidFill>
                  <a:srgbClr val="FF0000"/>
                </a:solidFill>
              </a:rPr>
              <a:t>--help</a:t>
            </a:r>
            <a:r>
              <a:rPr lang="en-US" dirty="0"/>
              <a:t>: </a:t>
            </a:r>
            <a:r>
              <a:rPr lang="en-US" dirty="0">
                <a:solidFill>
                  <a:schemeClr val="dk1"/>
                </a:solidFill>
              </a:rPr>
              <a:t>is an option supported by many bash commands, and programs that can be run from within Bash, to display more information on how to use these commands or programs.</a:t>
            </a:r>
            <a:endParaRPr dirty="0"/>
          </a:p>
          <a:p>
            <a:pPr marL="971550" lvl="1" indent="-285750"/>
            <a:r>
              <a:rPr lang="en-US" dirty="0">
                <a:solidFill>
                  <a:srgbClr val="FF0000"/>
                </a:solidFill>
              </a:rPr>
              <a:t>man &lt;command&gt;</a:t>
            </a:r>
            <a:r>
              <a:rPr lang="en-US" dirty="0"/>
              <a:t>: </a:t>
            </a:r>
            <a:r>
              <a:rPr lang="en-US" dirty="0">
                <a:solidFill>
                  <a:schemeClr val="dk1"/>
                </a:solidFill>
              </a:rPr>
              <a:t>displays the manual page for a given command. (Note: man command doesn’t supported in </a:t>
            </a:r>
            <a:r>
              <a:rPr lang="en-US" dirty="0" err="1">
                <a:solidFill>
                  <a:schemeClr val="dk1"/>
                </a:solidFill>
              </a:rPr>
              <a:t>Git</a:t>
            </a:r>
            <a:r>
              <a:rPr lang="en-US" dirty="0">
                <a:solidFill>
                  <a:schemeClr val="dk1"/>
                </a:solidFill>
              </a:rPr>
              <a:t> Bash, so please use –help instead)</a:t>
            </a:r>
          </a:p>
          <a:p>
            <a:pPr marL="514350" lvl="0" indent="-285750"/>
            <a:r>
              <a:rPr lang="en-US" dirty="0"/>
              <a:t>Note: The best way to use the shell is to use pipes to combine simple single-purpose programs.</a:t>
            </a:r>
          </a:p>
        </p:txBody>
      </p:sp>
    </p:spTree>
    <p:extLst>
      <p:ext uri="{BB962C8B-B14F-4D97-AF65-F5344CB8AC3E}">
        <p14:creationId xmlns:p14="http://schemas.microsoft.com/office/powerpoint/2010/main" val="3934418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UNIX Basic Command</a:t>
            </a:r>
            <a:endParaRPr/>
          </a:p>
        </p:txBody>
      </p:sp>
      <p:sp>
        <p:nvSpPr>
          <p:cNvPr id="105" name="Google Shape;105;p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sz="2800" dirty="0"/>
              <a:t>Example for PIPE LINE</a:t>
            </a:r>
            <a:endParaRPr dirty="0"/>
          </a:p>
        </p:txBody>
      </p:sp>
      <p:sp>
        <p:nvSpPr>
          <p:cNvPr id="107" name="Google Shape;107;p6"/>
          <p:cNvSpPr txBox="1"/>
          <p:nvPr/>
        </p:nvSpPr>
        <p:spPr>
          <a:xfrm>
            <a:off x="436600" y="2273945"/>
            <a:ext cx="23304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- Read file README.md then show the first 5 lines</a:t>
            </a:r>
            <a:endParaRPr sz="1800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436600" y="4197642"/>
            <a:ext cx="23304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- Find all things in the current folder, =&gt; search the “</a:t>
            </a:r>
            <a:r>
              <a:rPr lang="en-US" sz="1800" dirty="0">
                <a:solidFill>
                  <a:schemeClr val="dk1"/>
                </a:solidFill>
              </a:rPr>
              <a:t>.c</a:t>
            </a:r>
            <a:r>
              <a:rPr lang="en-US" sz="18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” extension</a:t>
            </a:r>
            <a:endParaRPr sz="1800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836083" y="1866900"/>
            <a:ext cx="8794301" cy="208218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6654" rIns="0" bIns="6400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hieu.nguyen-trung@PC-001 MINGW64 ~/Desktop/Material/</a:t>
            </a:r>
            <a:r>
              <a:rPr lang="en-US" dirty="0" err="1"/>
              <a:t>c_cpp</a:t>
            </a:r>
            <a:r>
              <a:rPr lang="en-US" dirty="0"/>
              <a:t> (</a:t>
            </a:r>
            <a:r>
              <a:rPr lang="en-US" dirty="0" err="1"/>
              <a:t>test_hieunguyen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chemeClr val="accent5"/>
                </a:solidFill>
              </a:rPr>
              <a:t>$ cat -n README.md | head -5</a:t>
            </a:r>
          </a:p>
          <a:p>
            <a:r>
              <a:rPr lang="en-US" i="1" dirty="0"/>
              <a:t>     1  # Get start.</a:t>
            </a:r>
          </a:p>
          <a:p>
            <a:r>
              <a:rPr lang="en-US" i="1" dirty="0"/>
              <a:t>     2</a:t>
            </a:r>
          </a:p>
          <a:p>
            <a:r>
              <a:rPr lang="en-US" i="1" dirty="0"/>
              <a:t>     3  1.  Clone repository</a:t>
            </a:r>
          </a:p>
          <a:p>
            <a:r>
              <a:rPr lang="en-US" i="1" dirty="0"/>
              <a:t>     4</a:t>
            </a:r>
          </a:p>
          <a:p>
            <a:r>
              <a:rPr lang="en-US" i="1" dirty="0"/>
              <a:t>     5  ``` bash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2836083" y="4134527"/>
            <a:ext cx="8794300" cy="2624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6654" rIns="0" bIns="6400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hieu.nguyen-trung@PC-001 MINGW64 ~/Desktop/Material/</a:t>
            </a:r>
            <a:r>
              <a:rPr lang="en-US" dirty="0" err="1"/>
              <a:t>c_cpp</a:t>
            </a:r>
            <a:r>
              <a:rPr lang="en-US" dirty="0"/>
              <a:t> (</a:t>
            </a:r>
            <a:r>
              <a:rPr lang="en-US" dirty="0" err="1"/>
              <a:t>test_hieunguyen</a:t>
            </a:r>
            <a:r>
              <a:rPr lang="en-US" dirty="0"/>
              <a:t>)</a:t>
            </a:r>
          </a:p>
          <a:p>
            <a:r>
              <a:rPr lang="en-US" dirty="0">
                <a:solidFill>
                  <a:schemeClr val="accent5"/>
                </a:solidFill>
              </a:rPr>
              <a:t>$ find . | </a:t>
            </a:r>
            <a:r>
              <a:rPr lang="en-US" dirty="0" err="1">
                <a:solidFill>
                  <a:schemeClr val="accent5"/>
                </a:solidFill>
              </a:rPr>
              <a:t>grep</a:t>
            </a:r>
            <a:r>
              <a:rPr lang="en-US" dirty="0">
                <a:solidFill>
                  <a:schemeClr val="accent5"/>
                </a:solidFill>
              </a:rPr>
              <a:t> '\.c$'</a:t>
            </a:r>
          </a:p>
          <a:p>
            <a:r>
              <a:rPr lang="en-US" i="1" dirty="0"/>
              <a:t>./01_memory/</a:t>
            </a:r>
            <a:r>
              <a:rPr lang="en-US" i="1" dirty="0" err="1"/>
              <a:t>func.c</a:t>
            </a:r>
            <a:endParaRPr lang="en-US" i="1" dirty="0"/>
          </a:p>
          <a:p>
            <a:r>
              <a:rPr lang="en-US" i="1" dirty="0"/>
              <a:t>./01_memory/</a:t>
            </a:r>
            <a:r>
              <a:rPr lang="en-US" i="1" dirty="0" err="1"/>
              <a:t>main.c</a:t>
            </a:r>
            <a:endParaRPr lang="en-US" i="1" dirty="0"/>
          </a:p>
          <a:p>
            <a:r>
              <a:rPr lang="en-US" i="1" dirty="0"/>
              <a:t>./02_makefile_debugging/</a:t>
            </a:r>
            <a:r>
              <a:rPr lang="en-US" i="1" dirty="0" err="1"/>
              <a:t>func.c</a:t>
            </a:r>
            <a:endParaRPr lang="en-US" i="1" dirty="0"/>
          </a:p>
          <a:p>
            <a:r>
              <a:rPr lang="en-US" i="1" dirty="0"/>
              <a:t>./02_makefile_debugging/</a:t>
            </a:r>
            <a:r>
              <a:rPr lang="en-US" i="1" dirty="0" err="1"/>
              <a:t>main.c</a:t>
            </a:r>
            <a:endParaRPr lang="en-US" i="1" dirty="0"/>
          </a:p>
          <a:p>
            <a:r>
              <a:rPr lang="en-US" i="1" dirty="0"/>
              <a:t>./03_pre-processor/</a:t>
            </a:r>
            <a:r>
              <a:rPr lang="en-US" i="1" dirty="0" err="1"/>
              <a:t>debug_log.c</a:t>
            </a:r>
            <a:endParaRPr lang="en-US" i="1" dirty="0"/>
          </a:p>
          <a:p>
            <a:r>
              <a:rPr lang="en-US" i="1" dirty="0"/>
              <a:t>./03_pre-processor/</a:t>
            </a:r>
            <a:r>
              <a:rPr lang="en-US" i="1" dirty="0" err="1"/>
              <a:t>main.c</a:t>
            </a:r>
            <a:endParaRPr lang="en-US" i="1" dirty="0"/>
          </a:p>
          <a:p>
            <a:r>
              <a:rPr lang="en-US" i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59844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UNIX Basic Command</a:t>
            </a:r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rgbClr val="FF0000"/>
                </a:solidFill>
              </a:rPr>
              <a:t>Quiz</a:t>
            </a:r>
            <a:r>
              <a:rPr lang="en-US" dirty="0"/>
              <a:t>:</a:t>
            </a:r>
            <a:endParaRPr dirty="0"/>
          </a:p>
          <a:p>
            <a:pPr marL="1123935" lvl="1" indent="-285750"/>
            <a:r>
              <a:rPr lang="en-US" dirty="0"/>
              <a:t>Count the files, the directories in folder </a:t>
            </a:r>
            <a:r>
              <a:rPr lang="en-US" dirty="0" err="1"/>
              <a:t>New_Training</a:t>
            </a:r>
            <a:r>
              <a:rPr lang="en-US" dirty="0"/>
              <a:t> then update your script command to </a:t>
            </a:r>
            <a:r>
              <a:rPr lang="en-US" dirty="0" err="1"/>
              <a:t>Git</a:t>
            </a:r>
            <a:r>
              <a:rPr lang="en-US" dirty="0"/>
              <a:t> Server.</a:t>
            </a:r>
          </a:p>
          <a:p>
            <a:pPr marL="1123935" lvl="1" indent="-285750"/>
            <a:r>
              <a:rPr lang="en-US" dirty="0"/>
              <a:t>Link:</a:t>
            </a:r>
          </a:p>
          <a:p>
            <a:pPr marL="1581135" lvl="2" indent="-285750">
              <a:buFont typeface="Courier New" panose="02070309020205020404" pitchFamily="49" charset="0"/>
              <a:buChar char="o"/>
            </a:pP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http://gitlab.banvien.com/training/c_cpp/tree/test_hieunguyen</a:t>
            </a:r>
            <a:endParaRPr lang="en-US" dirty="0"/>
          </a:p>
          <a:p>
            <a:pPr marL="1581135" lvl="2" indent="-285750">
              <a:buFont typeface="Courier New" panose="02070309020205020404" pitchFamily="49" charset="0"/>
              <a:buChar char="o"/>
            </a:pPr>
            <a:r>
              <a:rPr lang="en-US" dirty="0"/>
              <a:t>Path: </a:t>
            </a:r>
            <a:r>
              <a:rPr lang="en-US" dirty="0" err="1"/>
              <a:t>c_cpp</a:t>
            </a:r>
            <a:r>
              <a:rPr lang="en-US" dirty="0"/>
              <a:t>/99_exercise/00_BASH/</a:t>
            </a:r>
            <a:r>
              <a:rPr lang="en-US" dirty="0" err="1"/>
              <a:t>New_Training</a:t>
            </a:r>
            <a:endParaRPr dirty="0"/>
          </a:p>
          <a:p>
            <a:pPr marL="1123935" lvl="1" indent="-285750"/>
            <a:r>
              <a:rPr lang="en-US" dirty="0"/>
              <a:t>Output sample:</a:t>
            </a:r>
            <a:endParaRPr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718415" y="3985400"/>
            <a:ext cx="8746769" cy="428301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6654" rIns="0" bIns="64008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7000"/>
              </a:lnSpc>
            </a:pPr>
            <a:r>
              <a:rPr lang="en-US" dirty="0"/>
              <a:t>Result: "86" directories, "149" files in folder ./</a:t>
            </a:r>
            <a:r>
              <a:rPr lang="en-US" dirty="0" err="1"/>
              <a:t>New_Training</a:t>
            </a: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154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Regular Expression Basic</a:t>
            </a:r>
            <a:endParaRPr/>
          </a:p>
        </p:txBody>
      </p:sp>
      <p:sp>
        <p:nvSpPr>
          <p:cNvPr id="124" name="Google Shape;124;p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rgbClr val="FF0000"/>
                </a:solidFill>
              </a:rPr>
              <a:t>What is regular expression?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/>
              <a:t>A regular expression (regex) is a method of representing a string matching pattern.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/>
              <a:t>Regular expressions enable strings that match a particular pattern within textual data records to be located and modified and they are often used within utility programs and programming languages that manipulate textual data.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/>
              <a:t>Regular expressions are extremely powerful.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/>
              <a:t>Supporting Software and Tools.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/>
              <a:t>Command Line Tools:</a:t>
            </a:r>
            <a:endParaRPr dirty="0"/>
          </a:p>
          <a:p>
            <a:pPr marL="2343104" lvl="3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 err="1">
                <a:solidFill>
                  <a:srgbClr val="FF0000"/>
                </a:solidFill>
              </a:rPr>
              <a:t>grep</a:t>
            </a:r>
            <a:endParaRPr dirty="0">
              <a:solidFill>
                <a:srgbClr val="FF0000"/>
              </a:solidFill>
            </a:endParaRPr>
          </a:p>
          <a:p>
            <a:pPr marL="2343104" lvl="3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 err="1">
                <a:solidFill>
                  <a:srgbClr val="FF0000"/>
                </a:solidFill>
              </a:rPr>
              <a:t>sed</a:t>
            </a:r>
            <a:endParaRPr dirty="0">
              <a:solidFill>
                <a:srgbClr val="FF0000"/>
              </a:solidFill>
            </a:endParaRPr>
          </a:p>
          <a:p>
            <a:pPr marL="2343104" lvl="3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 err="1">
                <a:solidFill>
                  <a:srgbClr val="FF0000"/>
                </a:solidFill>
              </a:rPr>
              <a:t>awk</a:t>
            </a:r>
            <a:endParaRPr dirty="0">
              <a:solidFill>
                <a:srgbClr val="FF0000"/>
              </a:solidFill>
            </a:endParaRPr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/>
              <a:t>Editors: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vi</a:t>
            </a:r>
            <a:r>
              <a:rPr lang="en-US" dirty="0"/>
              <a:t>, </a:t>
            </a:r>
            <a:r>
              <a:rPr lang="en-US" dirty="0" err="1"/>
              <a:t>emacs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/>
              <a:t>Languages: </a:t>
            </a:r>
            <a:r>
              <a:rPr lang="en-US" dirty="0" err="1">
                <a:solidFill>
                  <a:srgbClr val="FF0000"/>
                </a:solidFill>
              </a:rPr>
              <a:t>awk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perl</a:t>
            </a:r>
            <a:r>
              <a:rPr lang="en-US" dirty="0">
                <a:solidFill>
                  <a:srgbClr val="FF0000"/>
                </a:solidFill>
              </a:rPr>
              <a:t>, python</a:t>
            </a:r>
            <a:r>
              <a:rPr lang="en-US" dirty="0"/>
              <a:t>, </a:t>
            </a:r>
            <a:r>
              <a:rPr lang="en-US" dirty="0" err="1"/>
              <a:t>php</a:t>
            </a:r>
            <a:r>
              <a:rPr lang="en-US" dirty="0"/>
              <a:t>, ruby, </a:t>
            </a:r>
            <a:r>
              <a:rPr lang="en-US" dirty="0" err="1"/>
              <a:t>tcl</a:t>
            </a:r>
            <a:r>
              <a:rPr lang="en-US" dirty="0"/>
              <a:t>, java, </a:t>
            </a:r>
            <a:r>
              <a:rPr lang="en-US" dirty="0" err="1"/>
              <a:t>javascript</a:t>
            </a:r>
            <a:r>
              <a:rPr lang="en-US" dirty="0"/>
              <a:t>, .NET,...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4570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Regular Expression Basic</a:t>
            </a:r>
            <a:endParaRPr/>
          </a:p>
        </p:txBody>
      </p:sp>
      <p:sp>
        <p:nvSpPr>
          <p:cNvPr id="131" name="Google Shape;131;p9"/>
          <p:cNvSpPr txBox="1">
            <a:spLocks noGrp="1"/>
          </p:cNvSpPr>
          <p:nvPr>
            <p:ph type="body" idx="1"/>
          </p:nvPr>
        </p:nvSpPr>
        <p:spPr>
          <a:xfrm>
            <a:off x="436600" y="1296866"/>
            <a:ext cx="11310400" cy="572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Meta-character Table: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300" y="1736700"/>
            <a:ext cx="6184725" cy="512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9400" y="1687374"/>
            <a:ext cx="5514975" cy="4464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0129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Regular Expression Basic</a:t>
            </a:r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Example for the substitute purpose in VIM Editor:</a:t>
            </a:r>
            <a:endParaRPr dirty="0"/>
          </a:p>
          <a:p>
            <a:pPr marL="1123935" lvl="1" indent="-28575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Type “</a:t>
            </a:r>
            <a:r>
              <a:rPr lang="en-US" dirty="0" err="1">
                <a:solidFill>
                  <a:schemeClr val="dk1"/>
                </a:solidFill>
              </a:rPr>
              <a:t>vimtutor</a:t>
            </a:r>
            <a:r>
              <a:rPr lang="en-US" dirty="0">
                <a:solidFill>
                  <a:schemeClr val="dk1"/>
                </a:solidFill>
              </a:rPr>
              <a:t> &lt;ENTER&gt;” in </a:t>
            </a:r>
            <a:r>
              <a:rPr lang="en-US" dirty="0" err="1">
                <a:solidFill>
                  <a:schemeClr val="dk1"/>
                </a:solidFill>
              </a:rPr>
              <a:t>Git</a:t>
            </a:r>
            <a:r>
              <a:rPr lang="en-US" dirty="0">
                <a:solidFill>
                  <a:schemeClr val="dk1"/>
                </a:solidFill>
              </a:rPr>
              <a:t> Bash to open Tutor for VIM Editor.</a:t>
            </a:r>
            <a:endParaRPr dirty="0"/>
          </a:p>
          <a:p>
            <a:pPr marL="1123935" lvl="1" indent="-28575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Try type “:s/thee/the/g” then you will get the result as the right picture.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1" name="Google Shape;141;p10"/>
          <p:cNvGrpSpPr/>
          <p:nvPr/>
        </p:nvGrpSpPr>
        <p:grpSpPr>
          <a:xfrm>
            <a:off x="440800" y="2844765"/>
            <a:ext cx="4943051" cy="3348893"/>
            <a:chOff x="436600" y="1685562"/>
            <a:chExt cx="4943051" cy="3348893"/>
          </a:xfrm>
        </p:grpSpPr>
        <p:pic>
          <p:nvPicPr>
            <p:cNvPr id="142" name="Google Shape;142;p1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36600" y="2054894"/>
              <a:ext cx="4943051" cy="29795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0"/>
            <p:cNvSpPr txBox="1"/>
            <p:nvPr/>
          </p:nvSpPr>
          <p:spPr>
            <a:xfrm>
              <a:off x="1755227" y="1685562"/>
              <a:ext cx="18182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Before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10"/>
          <p:cNvGrpSpPr/>
          <p:nvPr/>
        </p:nvGrpSpPr>
        <p:grpSpPr>
          <a:xfrm>
            <a:off x="6636791" y="2902401"/>
            <a:ext cx="5114409" cy="3407641"/>
            <a:chOff x="6470618" y="1685562"/>
            <a:chExt cx="5114409" cy="3407641"/>
          </a:xfrm>
        </p:grpSpPr>
        <p:pic>
          <p:nvPicPr>
            <p:cNvPr id="145" name="Google Shape;145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70618" y="1996144"/>
              <a:ext cx="5114409" cy="30970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10"/>
            <p:cNvSpPr txBox="1"/>
            <p:nvPr/>
          </p:nvSpPr>
          <p:spPr>
            <a:xfrm>
              <a:off x="8118677" y="1685562"/>
              <a:ext cx="181829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After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2492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Regular Expression Basic</a:t>
            </a:r>
            <a:endParaRPr/>
          </a:p>
        </p:txBody>
      </p:sp>
      <p:sp>
        <p:nvSpPr>
          <p:cNvPr id="153" name="Google Shape;153;p11"/>
          <p:cNvSpPr txBox="1">
            <a:spLocks noGrp="1"/>
          </p:cNvSpPr>
          <p:nvPr>
            <p:ph type="body" idx="1"/>
          </p:nvPr>
        </p:nvSpPr>
        <p:spPr>
          <a:xfrm>
            <a:off x="436600" y="1296874"/>
            <a:ext cx="11310300" cy="19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Example for the </a:t>
            </a:r>
            <a:r>
              <a:rPr lang="en-US" dirty="0" err="1">
                <a:solidFill>
                  <a:schemeClr val="dk1"/>
                </a:solidFill>
              </a:rPr>
              <a:t>grep</a:t>
            </a:r>
            <a:r>
              <a:rPr lang="en-US" dirty="0">
                <a:solidFill>
                  <a:schemeClr val="dk1"/>
                </a:solidFill>
              </a:rPr>
              <a:t> command:</a:t>
            </a:r>
            <a:endParaRPr lang="en-US" dirty="0"/>
          </a:p>
          <a:p>
            <a:pPr marL="1028700" lvl="1" indent="-342900">
              <a:lnSpc>
                <a:spcPct val="114000"/>
              </a:lnSpc>
              <a:spcBef>
                <a:spcPts val="0"/>
              </a:spcBef>
              <a:buSzPts val="15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Command: “ </a:t>
            </a:r>
            <a:r>
              <a:rPr lang="en-US" sz="1333" dirty="0">
                <a:solidFill>
                  <a:schemeClr val="accent5"/>
                </a:solidFill>
              </a:rPr>
              <a:t>cat </a:t>
            </a:r>
            <a:r>
              <a:rPr lang="en-US" sz="1333" dirty="0" err="1">
                <a:solidFill>
                  <a:schemeClr val="accent5"/>
                </a:solidFill>
              </a:rPr>
              <a:t>New_Training</a:t>
            </a:r>
            <a:r>
              <a:rPr lang="en-US" sz="1333" dirty="0">
                <a:solidFill>
                  <a:schemeClr val="accent5"/>
                </a:solidFill>
              </a:rPr>
              <a:t>/</a:t>
            </a:r>
            <a:r>
              <a:rPr lang="en-US" sz="1333" dirty="0" err="1">
                <a:solidFill>
                  <a:schemeClr val="accent5"/>
                </a:solidFill>
              </a:rPr>
              <a:t>Onboarding_Training_Output</a:t>
            </a:r>
            <a:r>
              <a:rPr lang="en-US" sz="1333" dirty="0">
                <a:solidFill>
                  <a:schemeClr val="accent5"/>
                </a:solidFill>
              </a:rPr>
              <a:t>/</a:t>
            </a:r>
            <a:r>
              <a:rPr lang="en-US" sz="1333" dirty="0" err="1">
                <a:solidFill>
                  <a:schemeClr val="accent5"/>
                </a:solidFill>
              </a:rPr>
              <a:t>Huynh.Nguyen</a:t>
            </a:r>
            <a:r>
              <a:rPr lang="en-US" sz="1333" dirty="0">
                <a:solidFill>
                  <a:schemeClr val="accent5"/>
                </a:solidFill>
              </a:rPr>
              <a:t>/test/3.ERR123004.txt | </a:t>
            </a:r>
            <a:r>
              <a:rPr lang="en-US" sz="1333" dirty="0" err="1">
                <a:solidFill>
                  <a:schemeClr val="accent5"/>
                </a:solidFill>
              </a:rPr>
              <a:t>grep</a:t>
            </a:r>
            <a:r>
              <a:rPr lang="en-US" sz="1333" dirty="0">
                <a:solidFill>
                  <a:schemeClr val="accent5"/>
                </a:solidFill>
              </a:rPr>
              <a:t> 'INF'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/>
              <a:t>”</a:t>
            </a:r>
          </a:p>
          <a:p>
            <a:pPr marL="1028700" lvl="1" indent="-342900">
              <a:lnSpc>
                <a:spcPct val="114000"/>
              </a:lnSpc>
              <a:spcBef>
                <a:spcPts val="0"/>
              </a:spcBef>
              <a:buSzPts val="15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Command: “ </a:t>
            </a:r>
            <a:r>
              <a:rPr lang="en-US" sz="1333" dirty="0">
                <a:solidFill>
                  <a:schemeClr val="accent5"/>
                </a:solidFill>
              </a:rPr>
              <a:t>cat </a:t>
            </a:r>
            <a:r>
              <a:rPr lang="en-US" sz="1333" dirty="0" err="1">
                <a:solidFill>
                  <a:schemeClr val="accent5"/>
                </a:solidFill>
              </a:rPr>
              <a:t>New_Training</a:t>
            </a:r>
            <a:r>
              <a:rPr lang="en-US" sz="1333" dirty="0">
                <a:solidFill>
                  <a:schemeClr val="accent5"/>
                </a:solidFill>
              </a:rPr>
              <a:t>/</a:t>
            </a:r>
            <a:r>
              <a:rPr lang="en-US" sz="1333" dirty="0" err="1">
                <a:solidFill>
                  <a:schemeClr val="accent5"/>
                </a:solidFill>
              </a:rPr>
              <a:t>Onboarding_Training_Output</a:t>
            </a:r>
            <a:r>
              <a:rPr lang="en-US" sz="1333" dirty="0">
                <a:solidFill>
                  <a:schemeClr val="accent5"/>
                </a:solidFill>
              </a:rPr>
              <a:t>/</a:t>
            </a:r>
            <a:r>
              <a:rPr lang="en-US" sz="1333" dirty="0" err="1">
                <a:solidFill>
                  <a:schemeClr val="accent5"/>
                </a:solidFill>
              </a:rPr>
              <a:t>Huynh.Nguyen</a:t>
            </a:r>
            <a:r>
              <a:rPr lang="en-US" sz="1333" dirty="0">
                <a:solidFill>
                  <a:schemeClr val="accent5"/>
                </a:solidFill>
              </a:rPr>
              <a:t>/test/3.ERR123004.txt | </a:t>
            </a:r>
            <a:r>
              <a:rPr lang="en-US" sz="1333" dirty="0" err="1">
                <a:solidFill>
                  <a:schemeClr val="accent5"/>
                </a:solidFill>
              </a:rPr>
              <a:t>grep</a:t>
            </a:r>
            <a:r>
              <a:rPr lang="en-US" sz="1333" dirty="0">
                <a:solidFill>
                  <a:schemeClr val="accent5"/>
                </a:solidFill>
              </a:rPr>
              <a:t> '</a:t>
            </a:r>
            <a:r>
              <a:rPr lang="en-US" sz="1333" dirty="0">
                <a:solidFill>
                  <a:srgbClr val="00B050"/>
                </a:solidFill>
              </a:rPr>
              <a:t>^</a:t>
            </a:r>
            <a:r>
              <a:rPr lang="en-US" sz="1333" dirty="0">
                <a:solidFill>
                  <a:schemeClr val="accent5"/>
                </a:solidFill>
              </a:rPr>
              <a:t>INF</a:t>
            </a:r>
            <a:r>
              <a:rPr lang="en-US" sz="1333" dirty="0">
                <a:solidFill>
                  <a:srgbClr val="00B050"/>
                </a:solidFill>
              </a:rPr>
              <a:t>[0-9]\+[5-9]</a:t>
            </a:r>
            <a:r>
              <a:rPr lang="en-US" sz="1333" dirty="0">
                <a:solidFill>
                  <a:schemeClr val="accent5"/>
                </a:solidFill>
              </a:rPr>
              <a:t>:' </a:t>
            </a:r>
            <a:r>
              <a:rPr lang="en-US" dirty="0"/>
              <a:t>”</a:t>
            </a:r>
            <a:endParaRPr dirty="0">
              <a:solidFill>
                <a:schemeClr val="dk1"/>
              </a:solidFill>
            </a:endParaRPr>
          </a:p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Result:</a:t>
            </a:r>
            <a:endParaRPr dirty="0"/>
          </a:p>
        </p:txBody>
      </p:sp>
      <p:sp>
        <p:nvSpPr>
          <p:cNvPr id="156" name="Google Shape;156;p11"/>
          <p:cNvSpPr txBox="1"/>
          <p:nvPr/>
        </p:nvSpPr>
        <p:spPr>
          <a:xfrm>
            <a:off x="436600" y="5852726"/>
            <a:ext cx="1207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What is the difference of these outputs?</a:t>
            </a:r>
            <a:endParaRPr sz="1800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36600" y="2700588"/>
            <a:ext cx="11310300" cy="1793931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6654" rIns="0" bIns="6400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$ cat </a:t>
            </a:r>
            <a:r>
              <a:rPr lang="en-US" dirty="0" err="1">
                <a:solidFill>
                  <a:schemeClr val="accent5"/>
                </a:solidFill>
              </a:rPr>
              <a:t>New_Training</a:t>
            </a:r>
            <a:r>
              <a:rPr lang="en-US" dirty="0">
                <a:solidFill>
                  <a:schemeClr val="accent5"/>
                </a:solidFill>
              </a:rPr>
              <a:t>/</a:t>
            </a:r>
            <a:r>
              <a:rPr lang="en-US" dirty="0" err="1">
                <a:solidFill>
                  <a:schemeClr val="accent5"/>
                </a:solidFill>
              </a:rPr>
              <a:t>Onboarding_Training_Output</a:t>
            </a:r>
            <a:r>
              <a:rPr lang="en-US" dirty="0">
                <a:solidFill>
                  <a:schemeClr val="accent5"/>
                </a:solidFill>
              </a:rPr>
              <a:t>/</a:t>
            </a:r>
            <a:r>
              <a:rPr lang="en-US" dirty="0" err="1">
                <a:solidFill>
                  <a:schemeClr val="accent5"/>
                </a:solidFill>
              </a:rPr>
              <a:t>Huynh.Nguyen</a:t>
            </a:r>
            <a:r>
              <a:rPr lang="en-US" dirty="0">
                <a:solidFill>
                  <a:schemeClr val="accent5"/>
                </a:solidFill>
              </a:rPr>
              <a:t>/test/3.ERR123004.txt | </a:t>
            </a:r>
            <a:r>
              <a:rPr lang="en-US" dirty="0" err="1">
                <a:solidFill>
                  <a:schemeClr val="accent5"/>
                </a:solidFill>
              </a:rPr>
              <a:t>grep</a:t>
            </a:r>
            <a:r>
              <a:rPr lang="en-US" dirty="0">
                <a:solidFill>
                  <a:schemeClr val="accent5"/>
                </a:solidFill>
              </a:rPr>
              <a:t> 'INF'</a:t>
            </a:r>
          </a:p>
          <a:p>
            <a:r>
              <a:rPr lang="en-US" dirty="0"/>
              <a:t>INF000001: Tool Version: 1.0.0</a:t>
            </a:r>
          </a:p>
          <a:p>
            <a:r>
              <a:rPr lang="en-US" dirty="0"/>
              <a:t>INF000002: Command line arguments: MCALConfGen.exe -m </a:t>
            </a:r>
            <a:r>
              <a:rPr lang="en-US" dirty="0" err="1"/>
              <a:t>adc</a:t>
            </a:r>
            <a:r>
              <a:rPr lang="en-US" dirty="0"/>
              <a:t> -l -o ./</a:t>
            </a:r>
          </a:p>
          <a:p>
            <a:r>
              <a:rPr lang="en-US" dirty="0"/>
              <a:t>INF000004: Opened file &lt;Adc.log&gt; at [03 Oct 2019 - 02:12:14].</a:t>
            </a:r>
          </a:p>
          <a:p>
            <a:r>
              <a:rPr lang="en-US" dirty="0"/>
              <a:t>INF000005: &lt;3&gt; Error(s) and &lt;0&gt; Warning(s) detected.</a:t>
            </a:r>
          </a:p>
          <a:p>
            <a:r>
              <a:rPr lang="en-US" dirty="0"/>
              <a:t>INF000009: Execution terminated due to error in the input file.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36601" y="4692155"/>
            <a:ext cx="11310300" cy="96293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6654" rIns="0" bIns="6400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$ cat </a:t>
            </a:r>
            <a:r>
              <a:rPr lang="en-US" dirty="0" err="1">
                <a:solidFill>
                  <a:schemeClr val="accent5"/>
                </a:solidFill>
              </a:rPr>
              <a:t>New_Training</a:t>
            </a:r>
            <a:r>
              <a:rPr lang="en-US" dirty="0">
                <a:solidFill>
                  <a:schemeClr val="accent5"/>
                </a:solidFill>
              </a:rPr>
              <a:t>/</a:t>
            </a:r>
            <a:r>
              <a:rPr lang="en-US" dirty="0" err="1">
                <a:solidFill>
                  <a:schemeClr val="accent5"/>
                </a:solidFill>
              </a:rPr>
              <a:t>Onboarding_Training_Output</a:t>
            </a:r>
            <a:r>
              <a:rPr lang="en-US" dirty="0">
                <a:solidFill>
                  <a:schemeClr val="accent5"/>
                </a:solidFill>
              </a:rPr>
              <a:t>/</a:t>
            </a:r>
            <a:r>
              <a:rPr lang="en-US" dirty="0" err="1">
                <a:solidFill>
                  <a:schemeClr val="accent5"/>
                </a:solidFill>
              </a:rPr>
              <a:t>Huynh.Nguyen</a:t>
            </a:r>
            <a:r>
              <a:rPr lang="en-US" dirty="0">
                <a:solidFill>
                  <a:schemeClr val="accent5"/>
                </a:solidFill>
              </a:rPr>
              <a:t>/test/3.ERR123004.txt | </a:t>
            </a:r>
            <a:r>
              <a:rPr lang="en-US" dirty="0" err="1">
                <a:solidFill>
                  <a:schemeClr val="accent5"/>
                </a:solidFill>
              </a:rPr>
              <a:t>grep</a:t>
            </a:r>
            <a:r>
              <a:rPr lang="en-US" dirty="0">
                <a:solidFill>
                  <a:schemeClr val="accent5"/>
                </a:solidFill>
              </a:rPr>
              <a:t> '^INF[0-9]\+[5-9]'</a:t>
            </a:r>
          </a:p>
          <a:p>
            <a:r>
              <a:rPr lang="en-US" dirty="0"/>
              <a:t>INF000005: &lt;3&gt; Error(s) and &lt;0&gt; Warning(s) detected.</a:t>
            </a:r>
          </a:p>
          <a:p>
            <a:r>
              <a:rPr lang="en-US" dirty="0"/>
              <a:t>INF000009: Execution terminated due to error in the input file.</a:t>
            </a:r>
          </a:p>
        </p:txBody>
      </p:sp>
    </p:spTree>
    <p:extLst>
      <p:ext uri="{BB962C8B-B14F-4D97-AF65-F5344CB8AC3E}">
        <p14:creationId xmlns:p14="http://schemas.microsoft.com/office/powerpoint/2010/main" val="559103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grep command</a:t>
            </a:r>
            <a:endParaRPr/>
          </a:p>
        </p:txBody>
      </p:sp>
      <p:sp>
        <p:nvSpPr>
          <p:cNvPr id="163" name="Google Shape;163;p12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4900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 err="1">
                <a:solidFill>
                  <a:schemeClr val="dk1"/>
                </a:solidFill>
              </a:rPr>
              <a:t>Grep</a:t>
            </a:r>
            <a:r>
              <a:rPr lang="en-US" dirty="0">
                <a:solidFill>
                  <a:schemeClr val="dk1"/>
                </a:solidFill>
              </a:rPr>
              <a:t> is a command in UNIX, it is used to search a specific string.</a:t>
            </a:r>
            <a:endParaRPr dirty="0"/>
          </a:p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Syntax:</a:t>
            </a:r>
            <a:endParaRPr dirty="0"/>
          </a:p>
          <a:p>
            <a:pPr marL="1123935" lvl="1" indent="-28575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>
                <a:solidFill>
                  <a:srgbClr val="FF0000"/>
                </a:solidFill>
              </a:rPr>
              <a:t>Normal using: </a:t>
            </a:r>
            <a:r>
              <a:rPr lang="en-US" dirty="0" err="1">
                <a:solidFill>
                  <a:srgbClr val="FF0000"/>
                </a:solidFill>
              </a:rPr>
              <a:t>grep</a:t>
            </a:r>
            <a:r>
              <a:rPr lang="en-US" dirty="0">
                <a:solidFill>
                  <a:srgbClr val="FF0000"/>
                </a:solidFill>
              </a:rPr>
              <a:t> &lt;word&gt; &lt;filename&gt;</a:t>
            </a:r>
            <a:endParaRPr dirty="0"/>
          </a:p>
          <a:p>
            <a:pPr marL="1123935" lvl="1" indent="-28575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>
                <a:solidFill>
                  <a:srgbClr val="FF0000"/>
                </a:solidFill>
              </a:rPr>
              <a:t>Pipeline using: &lt;command&gt; | </a:t>
            </a:r>
            <a:r>
              <a:rPr lang="en-US" dirty="0" err="1">
                <a:solidFill>
                  <a:srgbClr val="FF0000"/>
                </a:solidFill>
              </a:rPr>
              <a:t>grep</a:t>
            </a:r>
            <a:r>
              <a:rPr lang="en-US" dirty="0">
                <a:solidFill>
                  <a:srgbClr val="FF0000"/>
                </a:solidFill>
              </a:rPr>
              <a:t> &lt;Regular Expression&gt;</a:t>
            </a:r>
            <a:endParaRPr dirty="0"/>
          </a:p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Some useful option that is used with </a:t>
            </a:r>
            <a:r>
              <a:rPr lang="en-US" dirty="0" err="1">
                <a:solidFill>
                  <a:schemeClr val="dk1"/>
                </a:solidFill>
              </a:rPr>
              <a:t>grep</a:t>
            </a:r>
            <a:r>
              <a:rPr lang="en-US" dirty="0">
                <a:solidFill>
                  <a:schemeClr val="dk1"/>
                </a:solidFill>
              </a:rPr>
              <a:t>:</a:t>
            </a:r>
            <a:endParaRPr dirty="0"/>
          </a:p>
          <a:p>
            <a:pPr marL="1123935" lvl="1" indent="-28575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 err="1">
                <a:solidFill>
                  <a:schemeClr val="dk1"/>
                </a:solidFill>
              </a:rPr>
              <a:t>grep</a:t>
            </a:r>
            <a:r>
              <a:rPr lang="en-US" dirty="0">
                <a:solidFill>
                  <a:schemeClr val="dk1"/>
                </a:solidFill>
              </a:rPr>
              <a:t> –E &lt;word&gt; &lt;filename&gt;: </a:t>
            </a:r>
            <a:r>
              <a:rPr lang="en-US" dirty="0"/>
              <a:t>PATTERN is an extended regular expression or </a:t>
            </a:r>
            <a:r>
              <a:rPr lang="en-US" dirty="0" err="1">
                <a:solidFill>
                  <a:srgbClr val="FF0000"/>
                </a:solidFill>
              </a:rPr>
              <a:t>egrep</a:t>
            </a:r>
            <a:r>
              <a:rPr lang="en-US" dirty="0"/>
              <a:t> command</a:t>
            </a:r>
            <a:endParaRPr dirty="0"/>
          </a:p>
          <a:p>
            <a:pPr marL="1123935" lvl="1" indent="-28575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 err="1">
                <a:solidFill>
                  <a:schemeClr val="dk1"/>
                </a:solidFill>
              </a:rPr>
              <a:t>grep</a:t>
            </a:r>
            <a:r>
              <a:rPr lang="en-US" dirty="0">
                <a:solidFill>
                  <a:schemeClr val="dk1"/>
                </a:solidFill>
              </a:rPr>
              <a:t> –</a:t>
            </a:r>
            <a:r>
              <a:rPr lang="en-US" dirty="0" err="1">
                <a:solidFill>
                  <a:schemeClr val="dk1"/>
                </a:solidFill>
              </a:rPr>
              <a:t>i</a:t>
            </a:r>
            <a:r>
              <a:rPr lang="en-US" dirty="0">
                <a:solidFill>
                  <a:schemeClr val="dk1"/>
                </a:solidFill>
              </a:rPr>
              <a:t> &lt;word&gt; &lt;filename&gt;: </a:t>
            </a:r>
            <a:r>
              <a:rPr lang="en-US" dirty="0"/>
              <a:t>ignore case distinctions</a:t>
            </a:r>
            <a:endParaRPr dirty="0">
              <a:solidFill>
                <a:schemeClr val="dk1"/>
              </a:solidFill>
            </a:endParaRPr>
          </a:p>
          <a:p>
            <a:pPr marL="1123935" lvl="1" indent="-28575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 err="1">
                <a:solidFill>
                  <a:schemeClr val="dk1"/>
                </a:solidFill>
              </a:rPr>
              <a:t>grep</a:t>
            </a:r>
            <a:r>
              <a:rPr lang="en-US" dirty="0">
                <a:solidFill>
                  <a:schemeClr val="dk1"/>
                </a:solidFill>
              </a:rPr>
              <a:t> –v &lt;word&gt; &lt;filename&gt;: </a:t>
            </a:r>
            <a:r>
              <a:rPr lang="en-US" dirty="0"/>
              <a:t>select non-matching lines</a:t>
            </a:r>
            <a:endParaRPr dirty="0">
              <a:solidFill>
                <a:schemeClr val="dk1"/>
              </a:solidFill>
            </a:endParaRPr>
          </a:p>
          <a:p>
            <a:pPr marL="1123935" lvl="1" indent="-28575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 err="1">
                <a:solidFill>
                  <a:schemeClr val="dk1"/>
                </a:solidFill>
              </a:rPr>
              <a:t>grep</a:t>
            </a:r>
            <a:r>
              <a:rPr lang="en-US" dirty="0">
                <a:solidFill>
                  <a:schemeClr val="dk1"/>
                </a:solidFill>
              </a:rPr>
              <a:t> –c &lt;word&gt; &lt;filename&gt;: </a:t>
            </a:r>
            <a:r>
              <a:rPr lang="en-US" dirty="0"/>
              <a:t>print only a count of selected lines per FILE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143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grep command</a:t>
            </a:r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4900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rgbClr val="FF0000"/>
                </a:solidFill>
              </a:rPr>
              <a:t>Quiz:</a:t>
            </a:r>
            <a:endParaRPr dirty="0"/>
          </a:p>
          <a:p>
            <a:pPr marL="1123935" lvl="1" indent="-285750"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Create script command to collect all “UUID” in file “</a:t>
            </a:r>
            <a:r>
              <a:rPr lang="en-US" dirty="0"/>
              <a:t>App_ADC_U2AEVA1_BGA516.arxml”</a:t>
            </a:r>
          </a:p>
          <a:p>
            <a:pPr marL="1123935" lvl="1" indent="-285750"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Link:</a:t>
            </a:r>
          </a:p>
          <a:p>
            <a:pPr marL="1581135" lvl="2" indent="-285750"/>
            <a:r>
              <a:rPr lang="en-US" dirty="0" err="1"/>
              <a:t>Git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http://gitlab.banvien.com/training/c_cpp/tree/test_hieunguyen</a:t>
            </a:r>
            <a:endParaRPr lang="en-US" dirty="0"/>
          </a:p>
          <a:p>
            <a:pPr marL="1581135" lvl="2" indent="-285750"/>
            <a:r>
              <a:rPr lang="en-US" dirty="0">
                <a:solidFill>
                  <a:schemeClr val="dk1"/>
                </a:solidFill>
              </a:rPr>
              <a:t>Path: </a:t>
            </a:r>
            <a:r>
              <a:rPr lang="en-US" dirty="0" err="1"/>
              <a:t>c_cpp</a:t>
            </a:r>
            <a:r>
              <a:rPr lang="en-US" dirty="0"/>
              <a:t>/99_exercise/00_BASH/</a:t>
            </a:r>
            <a:r>
              <a:rPr lang="en-US" dirty="0" err="1"/>
              <a:t>New_Training</a:t>
            </a:r>
            <a:r>
              <a:rPr lang="en-US" dirty="0"/>
              <a:t>/TCODE/</a:t>
            </a:r>
            <a:r>
              <a:rPr lang="en-US" dirty="0" err="1"/>
              <a:t>SampleApp</a:t>
            </a:r>
            <a:r>
              <a:rPr lang="en-US" dirty="0"/>
              <a:t>/</a:t>
            </a:r>
            <a:r>
              <a:rPr lang="en-US" dirty="0" err="1"/>
              <a:t>cdf</a:t>
            </a:r>
            <a:r>
              <a:rPr lang="en-US" dirty="0"/>
              <a:t>/App_ADC_U2AEVA1_BGA516.arxml</a:t>
            </a:r>
          </a:p>
          <a:p>
            <a:pPr marL="1123935" lvl="1" indent="-285750"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Output Sample: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471901" y="4140559"/>
            <a:ext cx="4694199" cy="2624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6654" rIns="0" bIns="6400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742debb7-005d-4ec8-98be-b2f7448fdbdc</a:t>
            </a:r>
          </a:p>
          <a:p>
            <a:r>
              <a:rPr lang="en-US" dirty="0"/>
              <a:t>583fa164-0186-4061-b0c1-885ce439108d</a:t>
            </a:r>
          </a:p>
          <a:p>
            <a:r>
              <a:rPr lang="en-US" dirty="0"/>
              <a:t>26b4f04b-307c-4040-8909-4ca0a63502bb</a:t>
            </a:r>
          </a:p>
          <a:p>
            <a:r>
              <a:rPr lang="en-US" dirty="0"/>
              <a:t>03e99cc8-591d-40fa-9912-2f29123ecabd</a:t>
            </a:r>
          </a:p>
          <a:p>
            <a:r>
              <a:rPr lang="en-US" dirty="0"/>
              <a:t>b2eb8f87-44d0-4709-ba7a-bef5f669eafe</a:t>
            </a:r>
          </a:p>
          <a:p>
            <a:r>
              <a:rPr lang="en-US" dirty="0"/>
              <a:t>d2565947-b82c-4c71-910c-2e8522506383</a:t>
            </a:r>
          </a:p>
          <a:p>
            <a:r>
              <a:rPr lang="en-US" dirty="0"/>
              <a:t>e6101ffd-f93f-4055-a86b-4387b8b813d6</a:t>
            </a:r>
          </a:p>
          <a:p>
            <a:r>
              <a:rPr lang="en-US" dirty="0"/>
              <a:t>cbc0eb3d-877d-4f81-8fcd-d679149ea44f</a:t>
            </a:r>
          </a:p>
          <a:p>
            <a:r>
              <a:rPr lang="en-US" dirty="0"/>
              <a:t>d53f165e-54f2-47de-9845-c78891e5b991</a:t>
            </a:r>
          </a:p>
        </p:txBody>
      </p:sp>
    </p:spTree>
    <p:extLst>
      <p:ext uri="{BB962C8B-B14F-4D97-AF65-F5344CB8AC3E}">
        <p14:creationId xmlns:p14="http://schemas.microsoft.com/office/powerpoint/2010/main" val="2058500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sed command</a:t>
            </a:r>
            <a:endParaRPr/>
          </a:p>
        </p:txBody>
      </p:sp>
      <p:sp>
        <p:nvSpPr>
          <p:cNvPr id="177" name="Google Shape;177;p14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171200" cy="539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sz="1400" dirty="0" err="1">
                <a:solidFill>
                  <a:schemeClr val="dk1"/>
                </a:solidFill>
              </a:rPr>
              <a:t>Sed</a:t>
            </a:r>
            <a:r>
              <a:rPr lang="en-US" sz="1400" dirty="0">
                <a:solidFill>
                  <a:schemeClr val="dk1"/>
                </a:solidFill>
              </a:rPr>
              <a:t> is a streamlined, non-interactive editor. The </a:t>
            </a:r>
            <a:r>
              <a:rPr lang="en-US" sz="1400" dirty="0" err="1">
                <a:solidFill>
                  <a:schemeClr val="dk1"/>
                </a:solidFill>
              </a:rPr>
              <a:t>sed</a:t>
            </a:r>
            <a:r>
              <a:rPr lang="en-US" sz="1400" dirty="0">
                <a:solidFill>
                  <a:schemeClr val="dk1"/>
                </a:solidFill>
              </a:rPr>
              <a:t> program lets you type your editing commands at the command line, name the file, and then see the output of the editing command on the screen.</a:t>
            </a:r>
            <a:endParaRPr sz="1400" dirty="0">
              <a:solidFill>
                <a:schemeClr val="dk1"/>
              </a:solidFill>
            </a:endParaRPr>
          </a:p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sz="1400" dirty="0">
                <a:solidFill>
                  <a:schemeClr val="dk1"/>
                </a:solidFill>
              </a:rPr>
              <a:t>Syntax:</a:t>
            </a:r>
            <a:endParaRPr sz="1400"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sz="1400" dirty="0">
                <a:solidFill>
                  <a:srgbClr val="FF0000"/>
                </a:solidFill>
              </a:rPr>
              <a:t>Normal using: </a:t>
            </a:r>
            <a:r>
              <a:rPr lang="en-US" sz="1400" dirty="0" err="1">
                <a:solidFill>
                  <a:srgbClr val="FF0000"/>
                </a:solidFill>
              </a:rPr>
              <a:t>sed</a:t>
            </a:r>
            <a:r>
              <a:rPr lang="en-US" sz="1400" dirty="0">
                <a:solidFill>
                  <a:srgbClr val="FF0000"/>
                </a:solidFill>
              </a:rPr>
              <a:t> &lt;command&gt; &lt;filename(s)&gt;</a:t>
            </a:r>
            <a:endParaRPr sz="1400"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sz="1400" dirty="0">
                <a:solidFill>
                  <a:srgbClr val="FF0000"/>
                </a:solidFill>
              </a:rPr>
              <a:t>Pipeline using: &lt;command&gt; | </a:t>
            </a:r>
            <a:r>
              <a:rPr lang="en-US" sz="1400" dirty="0" err="1">
                <a:solidFill>
                  <a:srgbClr val="FF0000"/>
                </a:solidFill>
              </a:rPr>
              <a:t>sed</a:t>
            </a:r>
            <a:r>
              <a:rPr lang="en-US" sz="1400" dirty="0">
                <a:solidFill>
                  <a:srgbClr val="FF0000"/>
                </a:solidFill>
              </a:rPr>
              <a:t> &lt;command&gt;</a:t>
            </a:r>
            <a:endParaRPr sz="1400" dirty="0"/>
          </a:p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sz="1400" dirty="0">
                <a:solidFill>
                  <a:schemeClr val="dk1"/>
                </a:solidFill>
              </a:rPr>
              <a:t>Some useful command that is used with </a:t>
            </a:r>
            <a:r>
              <a:rPr lang="en-US" sz="1400" dirty="0" err="1">
                <a:solidFill>
                  <a:schemeClr val="dk1"/>
                </a:solidFill>
              </a:rPr>
              <a:t>sed</a:t>
            </a:r>
            <a:r>
              <a:rPr lang="en-US" sz="1400" dirty="0">
                <a:solidFill>
                  <a:schemeClr val="dk1"/>
                </a:solidFill>
              </a:rPr>
              <a:t>:</a:t>
            </a:r>
            <a:endParaRPr sz="1400"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sz="1400" dirty="0">
                <a:solidFill>
                  <a:schemeClr val="dk1"/>
                </a:solidFill>
              </a:rPr>
              <a:t>a\: appends one or more lines of text to the current line</a:t>
            </a:r>
            <a:endParaRPr sz="1400"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sz="1400" dirty="0" err="1">
                <a:solidFill>
                  <a:schemeClr val="dk1"/>
                </a:solidFill>
              </a:rPr>
              <a:t>i</a:t>
            </a:r>
            <a:r>
              <a:rPr lang="en-US" sz="1400" dirty="0">
                <a:solidFill>
                  <a:schemeClr val="dk1"/>
                </a:solidFill>
              </a:rPr>
              <a:t>\: inserts text above the current line</a:t>
            </a:r>
            <a:endParaRPr sz="1400"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sz="1400" dirty="0">
                <a:solidFill>
                  <a:schemeClr val="dk1"/>
                </a:solidFill>
              </a:rPr>
              <a:t>d: delete lines</a:t>
            </a:r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sz="1400" dirty="0"/>
              <a:t>n: print lines from the start matching pattern to the end matching pattern</a:t>
            </a:r>
            <a:endParaRPr sz="1400"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sz="1400" dirty="0">
                <a:solidFill>
                  <a:schemeClr val="dk1"/>
                </a:solidFill>
              </a:rPr>
              <a:t>p: prints line</a:t>
            </a:r>
            <a:endParaRPr sz="1400"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sz="1400" dirty="0">
                <a:solidFill>
                  <a:schemeClr val="dk1"/>
                </a:solidFill>
              </a:rPr>
              <a:t>r: reads lines from a file</a:t>
            </a:r>
            <a:endParaRPr sz="1400"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sz="1400" dirty="0">
                <a:solidFill>
                  <a:schemeClr val="dk1"/>
                </a:solidFill>
              </a:rPr>
              <a:t>!: </a:t>
            </a:r>
            <a:r>
              <a:rPr lang="en-US" sz="1400" dirty="0"/>
              <a:t>Applies the command to all lines except the selected ones</a:t>
            </a:r>
            <a:endParaRPr sz="1400" dirty="0">
              <a:solidFill>
                <a:schemeClr val="dk1"/>
              </a:solidFill>
            </a:endParaRPr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sz="1400" dirty="0">
                <a:solidFill>
                  <a:schemeClr val="dk1"/>
                </a:solidFill>
              </a:rPr>
              <a:t>s: substitutes one string for another</a:t>
            </a:r>
            <a:endParaRPr sz="1400" dirty="0"/>
          </a:p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sz="1400" dirty="0">
                <a:solidFill>
                  <a:schemeClr val="dk1"/>
                </a:solidFill>
              </a:rPr>
              <a:t>Note: if you want to </a:t>
            </a:r>
            <a:r>
              <a:rPr lang="en-US" sz="1400" dirty="0">
                <a:solidFill>
                  <a:srgbClr val="FF0000"/>
                </a:solidFill>
              </a:rPr>
              <a:t>edit directly </a:t>
            </a:r>
            <a:r>
              <a:rPr lang="en-US" sz="1400" dirty="0">
                <a:solidFill>
                  <a:schemeClr val="dk1"/>
                </a:solidFill>
              </a:rPr>
              <a:t>in the </a:t>
            </a:r>
            <a:r>
              <a:rPr lang="en-US" sz="1400" dirty="0">
                <a:solidFill>
                  <a:srgbClr val="FF0000"/>
                </a:solidFill>
              </a:rPr>
              <a:t>file</a:t>
            </a:r>
            <a:r>
              <a:rPr lang="en-US" sz="1400" dirty="0">
                <a:solidFill>
                  <a:schemeClr val="dk1"/>
                </a:solidFill>
              </a:rPr>
              <a:t> then save it, please add </a:t>
            </a:r>
            <a:r>
              <a:rPr lang="en-US" sz="1400" dirty="0">
                <a:solidFill>
                  <a:srgbClr val="FF0000"/>
                </a:solidFill>
              </a:rPr>
              <a:t>option “-</a:t>
            </a:r>
            <a:r>
              <a:rPr lang="en-US" sz="1400" dirty="0" err="1">
                <a:solidFill>
                  <a:srgbClr val="FF0000"/>
                </a:solidFill>
              </a:rPr>
              <a:t>i</a:t>
            </a:r>
            <a:r>
              <a:rPr lang="en-US" sz="1400" dirty="0">
                <a:solidFill>
                  <a:srgbClr val="FF0000"/>
                </a:solidFill>
              </a:rPr>
              <a:t>” </a:t>
            </a:r>
            <a:r>
              <a:rPr lang="en-US" sz="1400" dirty="0">
                <a:solidFill>
                  <a:schemeClr val="dk1"/>
                </a:solidFill>
              </a:rPr>
              <a:t>before &lt;command&gt;</a:t>
            </a:r>
            <a:endParaRPr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809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sed command</a:t>
            </a:r>
            <a:endParaRPr/>
          </a:p>
        </p:txBody>
      </p:sp>
      <p:sp>
        <p:nvSpPr>
          <p:cNvPr id="184" name="Google Shape;184;p15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336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File </a:t>
            </a:r>
            <a:r>
              <a:rPr lang="en-US" dirty="0" err="1">
                <a:solidFill>
                  <a:schemeClr val="dk1"/>
                </a:solidFill>
              </a:rPr>
              <a:t>datafile</a:t>
            </a:r>
            <a:r>
              <a:rPr lang="en-US" dirty="0">
                <a:solidFill>
                  <a:schemeClr val="dk1"/>
                </a:solidFill>
              </a:rPr>
              <a:t> below is used for these sample commands below:</a:t>
            </a:r>
            <a:endParaRPr dirty="0"/>
          </a:p>
          <a:p>
            <a:pPr marL="514350" lvl="0" indent="-285750" algn="l" rtl="0">
              <a:lnSpc>
                <a:spcPct val="114000"/>
              </a:lnSpc>
              <a:spcBef>
                <a:spcPts val="1620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Sample command:</a:t>
            </a:r>
            <a:endParaRPr dirty="0"/>
          </a:p>
        </p:txBody>
      </p:sp>
      <p:pic>
        <p:nvPicPr>
          <p:cNvPr id="185" name="Google Shape;18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1925" y="1858962"/>
            <a:ext cx="798195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0480" y="4062773"/>
            <a:ext cx="6533882" cy="1160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5"/>
          <p:cNvPicPr preferRelativeResize="0"/>
          <p:nvPr/>
        </p:nvPicPr>
        <p:blipFill rotWithShape="1">
          <a:blip r:embed="rId5">
            <a:alphaModFix/>
          </a:blip>
          <a:srcRect b="39626"/>
          <a:stretch/>
        </p:blipFill>
        <p:spPr>
          <a:xfrm>
            <a:off x="4930480" y="5593797"/>
            <a:ext cx="7007520" cy="99750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5"/>
          <p:cNvSpPr txBox="1"/>
          <p:nvPr/>
        </p:nvSpPr>
        <p:spPr>
          <a:xfrm>
            <a:off x="1028700" y="4299665"/>
            <a:ext cx="36957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sed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'/\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sS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[A-Z]\s/d' 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datafile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”: use to delete the lines that have a matching pattern.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1028700" y="5228792"/>
            <a:ext cx="36957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Cmd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sed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's/\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sS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[A-Z]\s/TEST/g' </a:t>
            </a: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datafile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”: use to search the lines that have a matching pattern then substitute with “new string”.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2457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sed command</a:t>
            </a:r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3364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rgbClr val="FF0000"/>
                </a:solidFill>
              </a:rPr>
              <a:t>Quiz: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Create script command to insert text “This is MY UPDATE” to the location “[Insert here]” at the file Input</a:t>
            </a:r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/>
              <a:t>Link:</a:t>
            </a:r>
          </a:p>
          <a:p>
            <a:pPr marL="1581135" lvl="2" indent="-285750" algn="just"/>
            <a:r>
              <a:rPr lang="en-US" dirty="0" err="1"/>
              <a:t>Git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http://gitlab.banvien.com/training/c_cpp/tree/test_hieunguyen</a:t>
            </a:r>
            <a:endParaRPr lang="en-US" dirty="0"/>
          </a:p>
          <a:p>
            <a:pPr marL="1581135" lvl="2" indent="-285750" algn="just"/>
            <a:r>
              <a:rPr lang="en-US" dirty="0"/>
              <a:t>Path: </a:t>
            </a:r>
            <a:r>
              <a:rPr lang="en-US" dirty="0" err="1"/>
              <a:t>c_cpp</a:t>
            </a:r>
            <a:r>
              <a:rPr lang="en-US" dirty="0"/>
              <a:t>/99_exercise/00_BASH/sed_ex.txt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0392" y="4291568"/>
            <a:ext cx="6644584" cy="2070323"/>
            <a:chOff x="40392" y="4291568"/>
            <a:chExt cx="6644584" cy="2070323"/>
          </a:xfrm>
        </p:grpSpPr>
        <p:sp>
          <p:nvSpPr>
            <p:cNvPr id="197" name="Google Shape;197;p16"/>
            <p:cNvSpPr txBox="1"/>
            <p:nvPr/>
          </p:nvSpPr>
          <p:spPr>
            <a:xfrm>
              <a:off x="1526973" y="4291568"/>
              <a:ext cx="367142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Input</a:t>
              </a:r>
              <a:endParaRPr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8" name="Google Shape;198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392" y="4856889"/>
              <a:ext cx="6644584" cy="15050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16"/>
          <p:cNvGrpSpPr/>
          <p:nvPr/>
        </p:nvGrpSpPr>
        <p:grpSpPr>
          <a:xfrm>
            <a:off x="6973703" y="4291568"/>
            <a:ext cx="5218297" cy="2070323"/>
            <a:chOff x="6973702" y="2858715"/>
            <a:chExt cx="5218297" cy="2070323"/>
          </a:xfrm>
        </p:grpSpPr>
        <p:sp>
          <p:nvSpPr>
            <p:cNvPr id="200" name="Google Shape;200;p16"/>
            <p:cNvSpPr txBox="1"/>
            <p:nvPr/>
          </p:nvSpPr>
          <p:spPr>
            <a:xfrm>
              <a:off x="7747139" y="2858715"/>
              <a:ext cx="367142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1" name="Google Shape;201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973702" y="3359449"/>
              <a:ext cx="5218297" cy="156958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21349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awk command</a:t>
            </a:r>
            <a:endParaRPr/>
          </a:p>
        </p:txBody>
      </p:sp>
      <p:sp>
        <p:nvSpPr>
          <p:cNvPr id="208" name="Google Shape;208;p17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4900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 err="1">
                <a:solidFill>
                  <a:schemeClr val="dk1"/>
                </a:solidFill>
              </a:rPr>
              <a:t>Awk</a:t>
            </a:r>
            <a:r>
              <a:rPr lang="en-US" dirty="0">
                <a:solidFill>
                  <a:schemeClr val="dk1"/>
                </a:solidFill>
              </a:rPr>
              <a:t> is a UNIX programming language used for manipulating data and generating reports</a:t>
            </a:r>
            <a:endParaRPr dirty="0"/>
          </a:p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Syntax: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>
                <a:solidFill>
                  <a:srgbClr val="FF0000"/>
                </a:solidFill>
              </a:rPr>
              <a:t>Normal using: </a:t>
            </a:r>
            <a:r>
              <a:rPr lang="en-US" dirty="0" err="1">
                <a:solidFill>
                  <a:srgbClr val="FF0000"/>
                </a:solidFill>
              </a:rPr>
              <a:t>awk</a:t>
            </a:r>
            <a:r>
              <a:rPr lang="en-US" dirty="0">
                <a:solidFill>
                  <a:srgbClr val="FF0000"/>
                </a:solidFill>
              </a:rPr>
              <a:t> &lt;command&gt; &lt;filename&gt;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>
                <a:solidFill>
                  <a:srgbClr val="FF0000"/>
                </a:solidFill>
              </a:rPr>
              <a:t>Pipeline using: &lt;command&gt; | </a:t>
            </a:r>
            <a:r>
              <a:rPr lang="en-US" dirty="0" err="1">
                <a:solidFill>
                  <a:srgbClr val="FF0000"/>
                </a:solidFill>
              </a:rPr>
              <a:t>awk</a:t>
            </a:r>
            <a:r>
              <a:rPr lang="en-US" dirty="0">
                <a:solidFill>
                  <a:srgbClr val="FF0000"/>
                </a:solidFill>
              </a:rPr>
              <a:t> &lt;command&gt;</a:t>
            </a:r>
            <a:endParaRPr dirty="0"/>
          </a:p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How </a:t>
            </a:r>
            <a:r>
              <a:rPr lang="en-US" dirty="0" err="1">
                <a:solidFill>
                  <a:schemeClr val="dk1"/>
                </a:solidFill>
              </a:rPr>
              <a:t>awk</a:t>
            </a:r>
            <a:r>
              <a:rPr lang="en-US" dirty="0">
                <a:solidFill>
                  <a:schemeClr val="dk1"/>
                </a:solidFill>
              </a:rPr>
              <a:t> Works: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File “names” with 3 fields or 3 columns:</a:t>
            </a:r>
            <a:endParaRPr dirty="0"/>
          </a:p>
          <a:p>
            <a:pPr marL="1447769" lvl="2" indent="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None/>
            </a:pPr>
            <a:r>
              <a:rPr lang="en-US" i="1" dirty="0"/>
              <a:t>Tom Savage 100</a:t>
            </a:r>
            <a:endParaRPr dirty="0"/>
          </a:p>
          <a:p>
            <a:pPr marL="1447769" lvl="2" indent="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None/>
            </a:pPr>
            <a:r>
              <a:rPr lang="en-US" i="1" dirty="0"/>
              <a:t>Molly Lee 200</a:t>
            </a:r>
            <a:endParaRPr dirty="0"/>
          </a:p>
          <a:p>
            <a:pPr marL="1447769" lvl="2" indent="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None/>
            </a:pPr>
            <a:r>
              <a:rPr lang="en-US" i="1" dirty="0"/>
              <a:t>John Doe 300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/>
              <a:t> The </a:t>
            </a:r>
            <a:r>
              <a:rPr lang="en-US" dirty="0" err="1"/>
              <a:t>awk</a:t>
            </a:r>
            <a:r>
              <a:rPr lang="en-US" dirty="0"/>
              <a:t> commands: </a:t>
            </a:r>
            <a:r>
              <a:rPr lang="en-US" dirty="0" err="1"/>
              <a:t>awk</a:t>
            </a:r>
            <a:r>
              <a:rPr lang="en-US" dirty="0"/>
              <a:t> ‘{print $1, $3}’ names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796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awk command</a:t>
            </a:r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body" idx="1"/>
          </p:nvPr>
        </p:nvSpPr>
        <p:spPr>
          <a:xfrm>
            <a:off x="440800" y="1168592"/>
            <a:ext cx="11310300" cy="13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Explanation: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 err="1">
                <a:solidFill>
                  <a:schemeClr val="dk1"/>
                </a:solidFill>
              </a:rPr>
              <a:t>Awk</a:t>
            </a:r>
            <a:r>
              <a:rPr lang="en-US" dirty="0">
                <a:solidFill>
                  <a:schemeClr val="dk1"/>
                </a:solidFill>
              </a:rPr>
              <a:t> takes a line of input (from a file or pipe) and puts the line into an internal variable called $0. Each line is also called a record and is terminated by a new line, by default.</a:t>
            </a:r>
            <a:endParaRPr dirty="0"/>
          </a:p>
        </p:txBody>
      </p:sp>
      <p:sp>
        <p:nvSpPr>
          <p:cNvPr id="216" name="Google Shape;216;p18"/>
          <p:cNvSpPr txBox="1"/>
          <p:nvPr/>
        </p:nvSpPr>
        <p:spPr>
          <a:xfrm>
            <a:off x="436600" y="3428014"/>
            <a:ext cx="11310400" cy="138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123935" marR="0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❑"/>
            </a:pPr>
            <a:r>
              <a:rPr lang="en-US" sz="1733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Next, the line is broken into fields (words) separated by whitespace. Each field is stored in a numbered variable, starting with $1. There can be as many as 100 fields.</a:t>
            </a:r>
            <a:endParaRPr dirty="0"/>
          </a:p>
        </p:txBody>
      </p:sp>
      <p:grpSp>
        <p:nvGrpSpPr>
          <p:cNvPr id="217" name="Google Shape;217;p18"/>
          <p:cNvGrpSpPr/>
          <p:nvPr/>
        </p:nvGrpSpPr>
        <p:grpSpPr>
          <a:xfrm>
            <a:off x="3368842" y="2417361"/>
            <a:ext cx="4652210" cy="1010653"/>
            <a:chOff x="3368842" y="2417361"/>
            <a:chExt cx="4652210" cy="1010653"/>
          </a:xfrm>
        </p:grpSpPr>
        <p:sp>
          <p:nvSpPr>
            <p:cNvPr id="218" name="Google Shape;218;p18"/>
            <p:cNvSpPr/>
            <p:nvPr/>
          </p:nvSpPr>
          <p:spPr>
            <a:xfrm>
              <a:off x="3368842" y="2417361"/>
              <a:ext cx="4652210" cy="1010653"/>
            </a:xfrm>
            <a:prstGeom prst="cube">
              <a:avLst>
                <a:gd name="adj" fmla="val 45635"/>
              </a:avLst>
            </a:prstGeom>
            <a:solidFill>
              <a:schemeClr val="accent1"/>
            </a:solidFill>
            <a:ln w="25400" cap="flat" cmpd="sng">
              <a:solidFill>
                <a:srgbClr val="4271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$0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8"/>
            <p:cNvSpPr txBox="1"/>
            <p:nvPr/>
          </p:nvSpPr>
          <p:spPr>
            <a:xfrm>
              <a:off x="4207222" y="2470440"/>
              <a:ext cx="25590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Tom Savage 100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18"/>
          <p:cNvGrpSpPr/>
          <p:nvPr/>
        </p:nvGrpSpPr>
        <p:grpSpPr>
          <a:xfrm>
            <a:off x="1984302" y="4316469"/>
            <a:ext cx="2559075" cy="1274776"/>
            <a:chOff x="877397" y="4284385"/>
            <a:chExt cx="2559075" cy="1274776"/>
          </a:xfrm>
        </p:grpSpPr>
        <p:sp>
          <p:nvSpPr>
            <p:cNvPr id="221" name="Google Shape;221;p18"/>
            <p:cNvSpPr/>
            <p:nvPr/>
          </p:nvSpPr>
          <p:spPr>
            <a:xfrm>
              <a:off x="1379622" y="4284385"/>
              <a:ext cx="1604210" cy="1274776"/>
            </a:xfrm>
            <a:prstGeom prst="cube">
              <a:avLst>
                <a:gd name="adj" fmla="val 36208"/>
              </a:avLst>
            </a:prstGeom>
            <a:solidFill>
              <a:schemeClr val="accent1"/>
            </a:solidFill>
            <a:ln w="25400" cap="flat" cmpd="sng">
              <a:solidFill>
                <a:srgbClr val="4271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$1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8"/>
            <p:cNvSpPr txBox="1"/>
            <p:nvPr/>
          </p:nvSpPr>
          <p:spPr>
            <a:xfrm>
              <a:off x="877397" y="4284385"/>
              <a:ext cx="25590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Tom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18"/>
          <p:cNvGrpSpPr/>
          <p:nvPr/>
        </p:nvGrpSpPr>
        <p:grpSpPr>
          <a:xfrm>
            <a:off x="4731006" y="4316469"/>
            <a:ext cx="2559075" cy="1274776"/>
            <a:chOff x="897313" y="4284385"/>
            <a:chExt cx="2559075" cy="1274776"/>
          </a:xfrm>
        </p:grpSpPr>
        <p:sp>
          <p:nvSpPr>
            <p:cNvPr id="224" name="Google Shape;224;p18"/>
            <p:cNvSpPr/>
            <p:nvPr/>
          </p:nvSpPr>
          <p:spPr>
            <a:xfrm>
              <a:off x="1379622" y="4284385"/>
              <a:ext cx="1604210" cy="1274776"/>
            </a:xfrm>
            <a:prstGeom prst="cube">
              <a:avLst>
                <a:gd name="adj" fmla="val 36208"/>
              </a:avLst>
            </a:prstGeom>
            <a:solidFill>
              <a:schemeClr val="accent1"/>
            </a:solidFill>
            <a:ln w="25400" cap="flat" cmpd="sng">
              <a:solidFill>
                <a:srgbClr val="4271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$2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8"/>
            <p:cNvSpPr txBox="1"/>
            <p:nvPr/>
          </p:nvSpPr>
          <p:spPr>
            <a:xfrm>
              <a:off x="897313" y="4284385"/>
              <a:ext cx="25590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Savage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18"/>
          <p:cNvGrpSpPr/>
          <p:nvPr/>
        </p:nvGrpSpPr>
        <p:grpSpPr>
          <a:xfrm>
            <a:off x="7192783" y="4316469"/>
            <a:ext cx="2559075" cy="1274776"/>
            <a:chOff x="809767" y="4284385"/>
            <a:chExt cx="2559075" cy="1274776"/>
          </a:xfrm>
        </p:grpSpPr>
        <p:sp>
          <p:nvSpPr>
            <p:cNvPr id="227" name="Google Shape;227;p18"/>
            <p:cNvSpPr/>
            <p:nvPr/>
          </p:nvSpPr>
          <p:spPr>
            <a:xfrm>
              <a:off x="1379622" y="4284385"/>
              <a:ext cx="1604210" cy="1274776"/>
            </a:xfrm>
            <a:prstGeom prst="cube">
              <a:avLst>
                <a:gd name="adj" fmla="val 36208"/>
              </a:avLst>
            </a:prstGeom>
            <a:solidFill>
              <a:schemeClr val="accent1"/>
            </a:solidFill>
            <a:ln w="25400" cap="flat" cmpd="sng">
              <a:solidFill>
                <a:srgbClr val="42719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$3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8"/>
            <p:cNvSpPr txBox="1"/>
            <p:nvPr/>
          </p:nvSpPr>
          <p:spPr>
            <a:xfrm>
              <a:off x="809767" y="4284385"/>
              <a:ext cx="25590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100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9" name="Google Shape;229;p18"/>
          <p:cNvSpPr txBox="1"/>
          <p:nvPr/>
        </p:nvSpPr>
        <p:spPr>
          <a:xfrm>
            <a:off x="436600" y="5574256"/>
            <a:ext cx="11310400" cy="138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123935" marR="0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❑"/>
            </a:pPr>
            <a:r>
              <a:rPr lang="en-US" sz="1733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 does </a:t>
            </a:r>
            <a:r>
              <a:rPr lang="en-US" sz="1733" b="0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awk</a:t>
            </a:r>
            <a:r>
              <a:rPr lang="en-US" sz="1733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know that white spaces the fields? There is another internal variable, called FS, that designates the field separator. Initially, FS is assigned whitespace – tabs and spaces.</a:t>
            </a:r>
            <a:endParaRPr dirty="0"/>
          </a:p>
          <a:p>
            <a:pPr marL="1123935" marR="0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❑"/>
            </a:pPr>
            <a:r>
              <a:rPr lang="en-US" sz="1733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When </a:t>
            </a:r>
            <a:r>
              <a:rPr lang="en-US" sz="1733" b="0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awk</a:t>
            </a:r>
            <a:r>
              <a:rPr lang="en-US" sz="1733" b="0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prints the fields, it uses the print function as follow: {print $1, $3}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961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awk command</a:t>
            </a:r>
            <a:endParaRPr/>
          </a:p>
        </p:txBody>
      </p:sp>
      <p:sp>
        <p:nvSpPr>
          <p:cNvPr id="236" name="Google Shape;236;p19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4773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Explanation: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And the output shows each field separated by a space, as:</a:t>
            </a:r>
            <a:endParaRPr dirty="0"/>
          </a:p>
          <a:p>
            <a:pPr marL="1447769" lvl="2" indent="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None/>
            </a:pPr>
            <a:r>
              <a:rPr lang="en-US" i="1" dirty="0">
                <a:solidFill>
                  <a:schemeClr val="dk1"/>
                </a:solidFill>
              </a:rPr>
              <a:t>Tom 100</a:t>
            </a:r>
            <a:endParaRPr dirty="0"/>
          </a:p>
          <a:p>
            <a:pPr marL="1447769" lvl="2" indent="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None/>
            </a:pPr>
            <a:r>
              <a:rPr lang="en-US" i="1" dirty="0">
                <a:solidFill>
                  <a:schemeClr val="dk1"/>
                </a:solidFill>
              </a:rPr>
              <a:t>Molly 200</a:t>
            </a:r>
            <a:endParaRPr dirty="0"/>
          </a:p>
          <a:p>
            <a:pPr marL="1447769" lvl="2" indent="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None/>
            </a:pPr>
            <a:r>
              <a:rPr lang="en-US" i="1" dirty="0">
                <a:solidFill>
                  <a:schemeClr val="dk1"/>
                </a:solidFill>
              </a:rPr>
              <a:t>John 300</a:t>
            </a:r>
            <a:endParaRPr dirty="0"/>
          </a:p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Some useful command that is used with </a:t>
            </a:r>
            <a:r>
              <a:rPr lang="en-US" dirty="0" err="1">
                <a:solidFill>
                  <a:schemeClr val="dk1"/>
                </a:solidFill>
              </a:rPr>
              <a:t>awk</a:t>
            </a:r>
            <a:r>
              <a:rPr lang="en-US" dirty="0">
                <a:solidFill>
                  <a:schemeClr val="dk1"/>
                </a:solidFill>
              </a:rPr>
              <a:t>:</a:t>
            </a:r>
            <a:endParaRPr dirty="0">
              <a:solidFill>
                <a:schemeClr val="dk1"/>
              </a:solidFill>
            </a:endParaRPr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 err="1">
                <a:solidFill>
                  <a:schemeClr val="dk1"/>
                </a:solidFill>
              </a:rPr>
              <a:t>awk</a:t>
            </a:r>
            <a:r>
              <a:rPr lang="en-US" dirty="0">
                <a:solidFill>
                  <a:schemeClr val="dk1"/>
                </a:solidFill>
              </a:rPr>
              <a:t> ‘{print &lt;field&gt;}’ &lt;file&gt;: normal syntax with FS is whitespace</a:t>
            </a:r>
            <a:endParaRPr dirty="0">
              <a:solidFill>
                <a:schemeClr val="dk1"/>
              </a:solidFill>
            </a:endParaRPr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 err="1">
                <a:solidFill>
                  <a:schemeClr val="dk1"/>
                </a:solidFill>
              </a:rPr>
              <a:t>awk</a:t>
            </a:r>
            <a:r>
              <a:rPr lang="en-US" dirty="0">
                <a:solidFill>
                  <a:schemeClr val="dk1"/>
                </a:solidFill>
              </a:rPr>
              <a:t> –F &lt;delimiter&gt; ‘{print &lt;fields&gt;}’: print fields base on delimiter.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lang="en-US" dirty="0" err="1">
                <a:solidFill>
                  <a:schemeClr val="dk1"/>
                </a:solidFill>
              </a:rPr>
              <a:t>awk</a:t>
            </a:r>
            <a:r>
              <a:rPr lang="en-US" dirty="0">
                <a:solidFill>
                  <a:schemeClr val="dk1"/>
                </a:solidFill>
              </a:rPr>
              <a:t> –F &lt;delimiter&gt; ‘{</a:t>
            </a:r>
            <a:r>
              <a:rPr lang="en-US" dirty="0" err="1">
                <a:solidFill>
                  <a:schemeClr val="dk1"/>
                </a:solidFill>
              </a:rPr>
              <a:t>printf</a:t>
            </a:r>
            <a:r>
              <a:rPr lang="en-US" dirty="0">
                <a:solidFill>
                  <a:schemeClr val="dk1"/>
                </a:solidFill>
              </a:rPr>
              <a:t> “%s %d”, &lt;field1&gt;, &lt;field2&gt;}’: use </a:t>
            </a:r>
            <a:r>
              <a:rPr lang="en-US" dirty="0" err="1">
                <a:solidFill>
                  <a:schemeClr val="dk1"/>
                </a:solidFill>
              </a:rPr>
              <a:t>printf</a:t>
            </a:r>
            <a:r>
              <a:rPr lang="en-US" dirty="0">
                <a:solidFill>
                  <a:schemeClr val="dk1"/>
                </a:solidFill>
              </a:rPr>
              <a:t> function to format the string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8978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awk command</a:t>
            </a:r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4773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Sample:</a:t>
            </a:r>
            <a:endParaRPr/>
          </a:p>
          <a:p>
            <a:pPr marL="1123935" lvl="1" indent="-20320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Noto Sans Symbols"/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44" name="Google Shape;24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600" y="2213388"/>
            <a:ext cx="5248275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1800" y="2213388"/>
            <a:ext cx="53530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600" y="4283839"/>
            <a:ext cx="5514975" cy="1828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4706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Bash language - Variable</a:t>
            </a:r>
            <a:endParaRPr/>
          </a:p>
        </p:txBody>
      </p:sp>
      <p:sp>
        <p:nvSpPr>
          <p:cNvPr id="253" name="Google Shape;253;p21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561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Types of Variables: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There are two types of variable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>
                <a:solidFill>
                  <a:schemeClr val="dk1"/>
                </a:solidFill>
              </a:rPr>
              <a:t>Local Variable: are known only to the shell which they were created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>
                <a:solidFill>
                  <a:schemeClr val="dk1"/>
                </a:solidFill>
              </a:rPr>
              <a:t>Environment Variable: are available to any child processes spawned from the shell from which they were created.</a:t>
            </a:r>
            <a:endParaRPr dirty="0"/>
          </a:p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Naming Conventions: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Variable must begin with an alphabetic or underscore character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The remaining characters can be alphabetic, decimal digits, or an underscore character.</a:t>
            </a:r>
            <a:endParaRPr dirty="0"/>
          </a:p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Format: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Char char="•"/>
            </a:pPr>
            <a:r>
              <a:rPr lang="en-US" dirty="0">
                <a:solidFill>
                  <a:schemeClr val="dk1"/>
                </a:solidFill>
              </a:rPr>
              <a:t>Local: Variable=value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Char char="•"/>
            </a:pPr>
            <a:r>
              <a:rPr lang="en-US" dirty="0">
                <a:solidFill>
                  <a:schemeClr val="dk1"/>
                </a:solidFill>
              </a:rPr>
              <a:t>Environment: export variable=value</a:t>
            </a:r>
            <a:endParaRPr dirty="0"/>
          </a:p>
          <a:p>
            <a:pPr marL="838185" lvl="1" indent="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None/>
            </a:pPr>
            <a:r>
              <a:rPr lang="en-US" dirty="0">
                <a:solidFill>
                  <a:schemeClr val="dk1"/>
                </a:solidFill>
              </a:rPr>
              <a:t>Ex: </a:t>
            </a:r>
            <a:r>
              <a:rPr lang="en-US" i="1" dirty="0">
                <a:solidFill>
                  <a:schemeClr val="dk1"/>
                </a:solidFill>
              </a:rPr>
              <a:t>year=2019</a:t>
            </a:r>
            <a:endParaRPr dirty="0"/>
          </a:p>
          <a:p>
            <a:pPr marL="838185" lvl="1" indent="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None/>
            </a:pPr>
            <a:r>
              <a:rPr lang="en-US" dirty="0">
                <a:solidFill>
                  <a:schemeClr val="dk1"/>
                </a:solidFill>
              </a:rPr>
              <a:t>Note: </a:t>
            </a:r>
            <a:r>
              <a:rPr lang="en-US" dirty="0">
                <a:solidFill>
                  <a:srgbClr val="FF0000"/>
                </a:solidFill>
              </a:rPr>
              <a:t>without space before and after operator “=“</a:t>
            </a: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450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Bash language - Variable</a:t>
            </a:r>
            <a:endParaRPr/>
          </a:p>
        </p:txBody>
      </p:sp>
      <p:sp>
        <p:nvSpPr>
          <p:cNvPr id="260" name="Google Shape;260;p22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446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71500" lvl="0" indent="-3429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The declare Built-in: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dirty="0"/>
              <a:t>Format: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/>
              <a:t>declare variable=name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declare option: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/>
              <a:t>-a: treats variable as an array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/>
              <a:t>-f: lists function name as and definition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/>
              <a:t>-F: lists just function names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/>
              <a:t>-</a:t>
            </a:r>
            <a:r>
              <a:rPr lang="en-US" dirty="0" err="1"/>
              <a:t>i</a:t>
            </a:r>
            <a:r>
              <a:rPr lang="en-US" dirty="0"/>
              <a:t>: makes variables integer types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/>
              <a:t>-r: makes variables read-only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/>
              <a:t>-x: exports variable names to subshells</a:t>
            </a:r>
            <a:endParaRPr dirty="0"/>
          </a:p>
          <a:p>
            <a:pPr marL="571500" lvl="0" indent="-3429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Ex:</a:t>
            </a:r>
            <a:endParaRPr dirty="0"/>
          </a:p>
          <a:p>
            <a:pPr marL="1181085" lvl="1" indent="-34290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dirty="0"/>
              <a:t>declare -a </a:t>
            </a:r>
            <a:r>
              <a:rPr lang="en-US" dirty="0" err="1"/>
              <a:t>nums</a:t>
            </a:r>
            <a:r>
              <a:rPr lang="en-US" dirty="0"/>
              <a:t>=(45 33 100 65)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6479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Bash language - Variable</a:t>
            </a: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Variable Expansion Modifiers</a:t>
            </a:r>
            <a:endParaRPr>
              <a:solidFill>
                <a:srgbClr val="FF0000"/>
              </a:solidFill>
            </a:endParaRPr>
          </a:p>
          <a:p>
            <a:pPr marL="838185" lvl="1" indent="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None/>
            </a:pP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68" name="Google Shape;268;p23"/>
          <p:cNvGraphicFramePr/>
          <p:nvPr>
            <p:extLst>
              <p:ext uri="{D42A27DB-BD31-4B8C-83A1-F6EECF244321}">
                <p14:modId xmlns:p14="http://schemas.microsoft.com/office/powerpoint/2010/main" val="47600250"/>
              </p:ext>
            </p:extLst>
          </p:nvPr>
        </p:nvGraphicFramePr>
        <p:xfrm>
          <a:off x="1069200" y="2073583"/>
          <a:ext cx="5815225" cy="38385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83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Modifier</a:t>
                      </a:r>
                      <a:endParaRPr sz="12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Value</a:t>
                      </a:r>
                      <a:endParaRPr sz="12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${variable:-word)</a:t>
                      </a:r>
                      <a:endParaRPr sz="12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If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variable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is set and is non-null, substitute its value; otherwise, substitute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word</a:t>
                      </a:r>
                      <a:endParaRPr sz="1200" u="none" strike="noStrike" cap="none" dirty="0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${variable:=word}</a:t>
                      </a:r>
                      <a:endParaRPr sz="1200" u="none" strike="noStrike" cap="none" dirty="0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If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variable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is set or is non-null, substitute its value; otherwise, set it to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word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. The value of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variable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is substituted permanently. Positional parameters may not be assigned in this way.</a:t>
                      </a:r>
                      <a:endParaRPr sz="1200" u="none" strike="noStrike" cap="none" dirty="0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${variable:+word}</a:t>
                      </a:r>
                      <a:endParaRPr sz="12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If variable is set and is non-null, substitute word; otherwise, substitute nothing.</a:t>
                      </a:r>
                      <a:endParaRPr sz="1200" u="none" strike="noStrike" cap="none" dirty="0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${variable:?word}</a:t>
                      </a:r>
                      <a:endParaRPr sz="12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If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variable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is set and is non-null, substitute its value; otherwise, print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word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and exit from the shell. If word is omitted, the message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parameter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null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or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not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set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is printed.</a:t>
                      </a:r>
                      <a:endParaRPr sz="1200" u="none" strike="noStrike" cap="none" dirty="0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${variable:offset}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Gets the substring of the value in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variable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starting at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offset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, where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offset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starts at 0 to the end of the string.</a:t>
                      </a:r>
                      <a:endParaRPr sz="1200" u="none" strike="noStrike" cap="none" dirty="0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${variable:offset:length}</a:t>
                      </a:r>
                      <a:endParaRPr sz="12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Gets the substring of the value in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variable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starting at </a:t>
                      </a:r>
                      <a:r>
                        <a:rPr lang="en-US" sz="12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offset</a:t>
                      </a:r>
                      <a:r>
                        <a:rPr lang="en-US" sz="12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, length characters over</a:t>
                      </a:r>
                      <a:endParaRPr sz="1200" u="none" strike="noStrike" cap="none" dirty="0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69" name="Google Shape;269;p23"/>
          <p:cNvGraphicFramePr/>
          <p:nvPr/>
        </p:nvGraphicFramePr>
        <p:xfrm>
          <a:off x="8242680" y="2070254"/>
          <a:ext cx="3504325" cy="30226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0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Sample</a:t>
                      </a:r>
                      <a:endParaRPr sz="12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1. $ fruit=peach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2. $ echo $(fruit:=-plum}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1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  peach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3. $ echo ${newfruit:-apple}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1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  apple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4. $ echo $newfruit</a:t>
                      </a:r>
                      <a:endParaRPr sz="1200" i="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5. $ echo $EDITOR # More realistic EXAMPLE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6. $ echo ${EDITOR:-/bin/vi}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1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  /bin/vi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7. $ echo $EDITOR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8. $ name=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  $ echo ${name-Joe}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9. $ echo ${name:-Joe}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i="1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  Joe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352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Bash language - Variable</a:t>
            </a:r>
            <a:endParaRPr/>
          </a:p>
        </p:txBody>
      </p:sp>
      <p:sp>
        <p:nvSpPr>
          <p:cNvPr id="276" name="Google Shape;276;p24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Positional Parameters</a:t>
            </a:r>
            <a:endParaRPr dirty="0"/>
          </a:p>
          <a:p>
            <a:pPr marL="1123935" lvl="1" indent="-28575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dirty="0"/>
              <a:t>The special built-in variables, often called positional parameters, are used in shell scripts when passing arguments from the command line, or used in functions to hold the value of arguments passed to the function.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277" name="Google Shape;277;p24"/>
          <p:cNvGraphicFramePr/>
          <p:nvPr>
            <p:extLst>
              <p:ext uri="{D42A27DB-BD31-4B8C-83A1-F6EECF244321}">
                <p14:modId xmlns:p14="http://schemas.microsoft.com/office/powerpoint/2010/main" val="2347815824"/>
              </p:ext>
            </p:extLst>
          </p:nvPr>
        </p:nvGraphicFramePr>
        <p:xfrm>
          <a:off x="3843993" y="2909424"/>
          <a:ext cx="5004750" cy="277188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11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Expression</a:t>
                      </a:r>
                      <a:endParaRPr sz="13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Function</a:t>
                      </a:r>
                      <a:endParaRPr sz="13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$0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References the name of the current shell script</a:t>
                      </a:r>
                      <a:endParaRPr sz="1300" u="none" strike="noStrike" cap="none" dirty="0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$1-$9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Positional parameters </a:t>
                      </a:r>
                      <a:r>
                        <a:rPr lang="en-US" sz="13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1-9</a:t>
                      </a:r>
                      <a:endParaRPr sz="1300" u="none" strike="noStrike" cap="none" dirty="0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${10}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Positional parameter </a:t>
                      </a:r>
                      <a:r>
                        <a:rPr lang="en-US" sz="13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</a:t>
                      </a:r>
                      <a:endParaRPr sz="1300" u="none" strike="noStrike" cap="none" dirty="0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$#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Evaluates to the number of positional parameters</a:t>
                      </a:r>
                      <a:endParaRPr sz="1300" u="none" strike="noStrike" cap="none" dirty="0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$*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Evaluates to all the positional parameters</a:t>
                      </a:r>
                      <a:endParaRPr sz="1300" u="none" strike="noStrike" cap="none" dirty="0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$@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Same as </a:t>
                      </a:r>
                      <a:r>
                        <a:rPr lang="en-US" sz="13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$*</a:t>
                      </a:r>
                      <a:r>
                        <a:rPr lang="en-US" sz="13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, except when double quoted</a:t>
                      </a:r>
                      <a:endParaRPr sz="1300" u="none" strike="noStrike" cap="none" dirty="0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“$*”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Evaluates to </a:t>
                      </a:r>
                      <a:r>
                        <a:rPr lang="en-US" sz="13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“$1 $2 $3”</a:t>
                      </a:r>
                      <a:r>
                        <a:rPr lang="en-US" sz="13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, and so on</a:t>
                      </a:r>
                      <a:endParaRPr sz="1300" u="none" strike="noStrike" cap="none" dirty="0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“$@”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Evaluates to </a:t>
                      </a:r>
                      <a:r>
                        <a:rPr lang="en-US" sz="13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“$1” “$2” “$3”</a:t>
                      </a:r>
                      <a:r>
                        <a:rPr lang="en-US" sz="13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, and so on</a:t>
                      </a:r>
                      <a:endParaRPr sz="1300" u="none" strike="noStrike" cap="none" dirty="0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949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Bash language - Variable</a:t>
            </a:r>
            <a:endParaRPr/>
          </a:p>
        </p:txBody>
      </p:sp>
      <p:sp>
        <p:nvSpPr>
          <p:cNvPr id="284" name="Google Shape;284;p25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Quoting</a:t>
            </a:r>
            <a:endParaRPr/>
          </a:p>
        </p:txBody>
      </p:sp>
      <p:graphicFrame>
        <p:nvGraphicFramePr>
          <p:cNvPr id="285" name="Google Shape;285;p25"/>
          <p:cNvGraphicFramePr/>
          <p:nvPr>
            <p:extLst>
              <p:ext uri="{D42A27DB-BD31-4B8C-83A1-F6EECF244321}">
                <p14:modId xmlns:p14="http://schemas.microsoft.com/office/powerpoint/2010/main" val="3552600130"/>
              </p:ext>
            </p:extLst>
          </p:nvPr>
        </p:nvGraphicFramePr>
        <p:xfrm>
          <a:off x="2815294" y="1775949"/>
          <a:ext cx="5852450" cy="41595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50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Metacharater</a:t>
                      </a:r>
                      <a:endParaRPr sz="15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Meaning</a:t>
                      </a:r>
                      <a:endParaRPr sz="15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;</a:t>
                      </a:r>
                      <a:endParaRPr sz="15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Command separator</a:t>
                      </a:r>
                      <a:endParaRPr sz="1500" u="none" strike="noStrike" cap="none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&amp;</a:t>
                      </a:r>
                      <a:endParaRPr sz="15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Background processing</a:t>
                      </a:r>
                      <a:endParaRPr sz="1500" u="none" strike="noStrike" cap="none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( )</a:t>
                      </a:r>
                      <a:endParaRPr sz="15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Command grouping; creates a subshell</a:t>
                      </a:r>
                      <a:endParaRPr sz="1500" u="none" strike="noStrike" cap="none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91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{ }</a:t>
                      </a:r>
                      <a:endParaRPr sz="15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Command grouping; does not create a subshell</a:t>
                      </a:r>
                      <a:endParaRPr sz="1500" u="none" strike="noStrike" cap="none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|</a:t>
                      </a:r>
                      <a:endParaRPr sz="15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Pipe</a:t>
                      </a:r>
                      <a:endParaRPr sz="1500" u="none" strike="noStrike" cap="none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&lt;</a:t>
                      </a:r>
                      <a:endParaRPr sz="15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Input redirection</a:t>
                      </a:r>
                      <a:endParaRPr sz="1500" u="none" strike="noStrike" cap="none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&gt;</a:t>
                      </a:r>
                      <a:endParaRPr sz="15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Output redirection</a:t>
                      </a:r>
                      <a:endParaRPr sz="1500" u="none" strike="noStrike" cap="none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newline</a:t>
                      </a:r>
                      <a:endParaRPr sz="15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Command termination</a:t>
                      </a:r>
                      <a:endParaRPr dirty="0"/>
                    </a:p>
                  </a:txBody>
                  <a:tcPr marL="113275" marR="113275" marT="56650" marB="56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space/tab</a:t>
                      </a:r>
                      <a:endParaRPr sz="15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Word delimiter</a:t>
                      </a:r>
                      <a:endParaRPr dirty="0"/>
                    </a:p>
                  </a:txBody>
                  <a:tcPr marL="113275" marR="113275" marT="56650" marB="56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$</a:t>
                      </a:r>
                      <a:endParaRPr sz="15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Variable substitution character</a:t>
                      </a:r>
                      <a:endParaRPr dirty="0"/>
                    </a:p>
                  </a:txBody>
                  <a:tcPr marL="113275" marR="113275" marT="56650" marB="56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* [ ] ?</a:t>
                      </a:r>
                      <a:endParaRPr sz="15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 dirty="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Shell meta-characters for filename expansion</a:t>
                      </a:r>
                      <a:endParaRPr sz="1500" u="none" strike="noStrike" cap="none" dirty="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113275" marR="113275" marT="56650" marB="56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691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Bash language - Variable</a:t>
            </a:r>
            <a:endParaRPr/>
          </a:p>
        </p:txBody>
      </p:sp>
      <p:sp>
        <p:nvSpPr>
          <p:cNvPr id="292" name="Google Shape;292;p26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Command Substitution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Command substitution is used when assigning the output of a command to a variable or when substituting the output of a command within a string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</a:rPr>
              <a:t>Format: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>
                <a:solidFill>
                  <a:srgbClr val="FF0000"/>
                </a:solidFill>
              </a:rPr>
              <a:t>`UNIX command`     # Old method with back-quotes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>
                <a:solidFill>
                  <a:srgbClr val="FF0000"/>
                </a:solidFill>
              </a:rPr>
              <a:t>$(UNIX command)   # New method</a:t>
            </a:r>
            <a:endParaRPr dirty="0"/>
          </a:p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Sample:</a:t>
            </a:r>
            <a:endParaRPr dirty="0"/>
          </a:p>
        </p:txBody>
      </p:sp>
      <p:graphicFrame>
        <p:nvGraphicFramePr>
          <p:cNvPr id="293" name="Google Shape;293;p26"/>
          <p:cNvGraphicFramePr/>
          <p:nvPr/>
        </p:nvGraphicFramePr>
        <p:xfrm>
          <a:off x="2027800" y="4205144"/>
          <a:ext cx="8128000" cy="192534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The Old Way</a:t>
                      </a:r>
                      <a:endParaRPr sz="16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The New Way</a:t>
                      </a:r>
                      <a:endParaRPr sz="16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1. $ echo “The hour is `date +%H`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  </a:t>
                      </a:r>
                      <a:r>
                        <a:rPr lang="en-US" sz="1600" i="1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The hour is 09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2. $ name=`awk –F: ‘{print $1}’ database`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  </a:t>
                      </a:r>
                      <a:r>
                        <a:rPr lang="en-US" sz="1600" i="1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Ebenezer Scrooge</a:t>
                      </a:r>
                      <a:endParaRPr sz="1600" i="1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1. $ d=$(date)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  $ echo $d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  </a:t>
                      </a:r>
                      <a:r>
                        <a:rPr lang="en-US" sz="1600" i="1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Wed Jul 14 09:35:21 PDT 2004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2. $ lines=$(cat filex)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3. $ echo The time is $(date +%H)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    </a:t>
                      </a:r>
                      <a:r>
                        <a:rPr lang="en-US" sz="1600" i="1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The time is 09</a:t>
                      </a:r>
                      <a:endParaRPr sz="1600" i="1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58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Bash language - Arithmetic</a:t>
            </a:r>
            <a:endParaRPr sz="6000"/>
          </a:p>
        </p:txBody>
      </p:sp>
      <p:sp>
        <p:nvSpPr>
          <p:cNvPr id="300" name="Google Shape;300;p27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14350" lvl="0" indent="-28575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/>
              <a:t>The shell performs arithmetic expansion by evaluating an arithmetic expression and substituting the result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</a:rPr>
              <a:t>Format: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/>
              <a:t>$[ expression ] </a:t>
            </a:r>
            <a:endParaRPr dirty="0"/>
          </a:p>
          <a:p>
            <a:pPr marL="1733519" lvl="2" indent="-28575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Courier New"/>
              <a:buChar char="o"/>
            </a:pPr>
            <a:r>
              <a:rPr lang="en-US" dirty="0"/>
              <a:t>$(( expression )) 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Ex:</a:t>
            </a:r>
            <a:endParaRPr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998700" y="3950433"/>
            <a:ext cx="2789200" cy="68593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6654" rIns="0" bIns="64008" numCol="1" anchor="ctr" anchorCtr="0" compatLnSpc="1">
            <a:prstTxWarp prst="textNoShape">
              <a:avLst/>
            </a:prstTxWarp>
            <a:spAutoFit/>
          </a:bodyPr>
          <a:lstStyle/>
          <a:p>
            <a:pPr marL="0" lvl="1"/>
            <a:r>
              <a:rPr lang="es-ES" dirty="0">
                <a:solidFill>
                  <a:schemeClr val="accent5"/>
                </a:solidFill>
              </a:rPr>
              <a:t>$ echo $[ (5 + 3) * 2 ]</a:t>
            </a:r>
          </a:p>
          <a:p>
            <a:pPr marL="0" lvl="1"/>
            <a:r>
              <a:rPr lang="es-ES" dirty="0">
                <a:solidFill>
                  <a:schemeClr val="accent5"/>
                </a:solidFill>
              </a:rPr>
              <a:t>$ echo $(( 5 + 4 ))</a:t>
            </a:r>
          </a:p>
        </p:txBody>
      </p:sp>
    </p:spTree>
    <p:extLst>
      <p:ext uri="{BB962C8B-B14F-4D97-AF65-F5344CB8AC3E}">
        <p14:creationId xmlns:p14="http://schemas.microsoft.com/office/powerpoint/2010/main" val="29597156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Bash language - Function</a:t>
            </a:r>
            <a:endParaRPr/>
          </a:p>
        </p:txBody>
      </p:sp>
      <p:sp>
        <p:nvSpPr>
          <p:cNvPr id="307" name="Google Shape;307;p28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71500" lvl="0" indent="-3429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Format: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dirty="0" err="1"/>
              <a:t>function_name</a:t>
            </a:r>
            <a:r>
              <a:rPr lang="en-US" dirty="0"/>
              <a:t> () { commands ; commands; } 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dirty="0"/>
              <a:t>function </a:t>
            </a:r>
            <a:r>
              <a:rPr lang="en-US" dirty="0" err="1"/>
              <a:t>function_name</a:t>
            </a:r>
            <a:r>
              <a:rPr lang="en-US" dirty="0"/>
              <a:t> { commands ; commands; } 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dirty="0"/>
              <a:t>function </a:t>
            </a:r>
            <a:r>
              <a:rPr lang="en-US" dirty="0" err="1"/>
              <a:t>function_name</a:t>
            </a:r>
            <a:r>
              <a:rPr lang="en-US" dirty="0"/>
              <a:t> () { commands ; commands; } </a:t>
            </a:r>
            <a:endParaRPr dirty="0"/>
          </a:p>
          <a:p>
            <a:pPr marL="571500" lvl="0" indent="-3429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/>
              <a:t>Ex:</a:t>
            </a:r>
            <a:endParaRPr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354700" y="3712599"/>
            <a:ext cx="7340600" cy="962935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6654" rIns="0" bIns="64008" numCol="1" anchor="ctr" anchorCtr="0" compatLnSpc="1">
            <a:prstTxWarp prst="textNoShape">
              <a:avLst/>
            </a:prstTxWarp>
            <a:spAutoFit/>
          </a:bodyPr>
          <a:lstStyle/>
          <a:p>
            <a:pPr marL="0" lvl="1"/>
            <a:r>
              <a:rPr lang="en-US" dirty="0">
                <a:solidFill>
                  <a:schemeClr val="accent5"/>
                </a:solidFill>
              </a:rPr>
              <a:t>$ function greet { echo "Hello $LOGNAME, today is $(date)"; }</a:t>
            </a:r>
          </a:p>
          <a:p>
            <a:pPr marL="0" lvl="1"/>
            <a:r>
              <a:rPr lang="en-US" dirty="0">
                <a:solidFill>
                  <a:schemeClr val="accent5"/>
                </a:solidFill>
              </a:rPr>
              <a:t>$ greet</a:t>
            </a:r>
          </a:p>
          <a:p>
            <a:pPr marL="0" lvl="1"/>
            <a:r>
              <a:rPr lang="en-US" i="1" dirty="0"/>
              <a:t>Hello </a:t>
            </a:r>
            <a:r>
              <a:rPr lang="en-US" i="1" dirty="0" err="1"/>
              <a:t>ellie</a:t>
            </a:r>
            <a:r>
              <a:rPr lang="en-US" i="1" dirty="0"/>
              <a:t>, today is Wed Jul 14 14:56:31 PDT 2004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622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sz="6000"/>
              <a:t>Bash language - User Input</a:t>
            </a:r>
            <a:endParaRPr/>
          </a:p>
        </p:txBody>
      </p:sp>
      <p:sp>
        <p:nvSpPr>
          <p:cNvPr id="314" name="Google Shape;314;p29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715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Format:</a:t>
            </a:r>
            <a:endParaRPr dirty="0"/>
          </a:p>
          <a:p>
            <a:pPr marL="1123935" lvl="1" indent="-285750" algn="l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dirty="0">
                <a:solidFill>
                  <a:srgbClr val="00B050"/>
                </a:solidFill>
              </a:rPr>
              <a:t>read answer</a:t>
            </a:r>
            <a:r>
              <a:rPr lang="en-US" dirty="0"/>
              <a:t>: reads a line from standard input and assigns it to the variable </a:t>
            </a:r>
            <a:r>
              <a:rPr lang="en-US" dirty="0">
                <a:solidFill>
                  <a:srgbClr val="00B050"/>
                </a:solidFill>
              </a:rPr>
              <a:t>answer</a:t>
            </a:r>
            <a:endParaRPr i="1" dirty="0">
              <a:solidFill>
                <a:srgbClr val="00B050"/>
              </a:solidFill>
            </a:endParaRPr>
          </a:p>
          <a:p>
            <a:pPr marL="5715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dirty="0"/>
              <a:t>Ex:</a:t>
            </a:r>
            <a:endParaRPr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421500" y="2710499"/>
            <a:ext cx="7340600" cy="1239934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6654" rIns="0" bIns="64008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$ echo "Please type your string:"; read </a:t>
            </a:r>
            <a:r>
              <a:rPr lang="en-US" dirty="0" err="1">
                <a:solidFill>
                  <a:srgbClr val="0070C0"/>
                </a:solidFill>
              </a:rPr>
              <a:t>var</a:t>
            </a:r>
            <a:r>
              <a:rPr lang="en-US" dirty="0">
                <a:solidFill>
                  <a:srgbClr val="0070C0"/>
                </a:solidFill>
              </a:rPr>
              <a:t>; echo "Your string is: $</a:t>
            </a:r>
            <a:r>
              <a:rPr lang="en-US" dirty="0" err="1">
                <a:solidFill>
                  <a:srgbClr val="0070C0"/>
                </a:solidFill>
              </a:rPr>
              <a:t>var</a:t>
            </a:r>
            <a:r>
              <a:rPr lang="en-US" dirty="0">
                <a:solidFill>
                  <a:srgbClr val="0070C0"/>
                </a:solidFill>
              </a:rPr>
              <a:t>"</a:t>
            </a:r>
          </a:p>
          <a:p>
            <a:r>
              <a:rPr lang="en-US" i="1" dirty="0"/>
              <a:t>Please type your string:</a:t>
            </a:r>
          </a:p>
          <a:p>
            <a:r>
              <a:rPr lang="en-US" i="1" dirty="0"/>
              <a:t>Good morning!</a:t>
            </a:r>
          </a:p>
          <a:p>
            <a:r>
              <a:rPr lang="en-US" i="1" dirty="0"/>
              <a:t>Your string is: Good morning!</a:t>
            </a:r>
          </a:p>
        </p:txBody>
      </p:sp>
    </p:spTree>
    <p:extLst>
      <p:ext uri="{BB962C8B-B14F-4D97-AF65-F5344CB8AC3E}">
        <p14:creationId xmlns:p14="http://schemas.microsoft.com/office/powerpoint/2010/main" val="3652273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/>
              <a:t>Bash language - Flow Control</a:t>
            </a:r>
            <a:endParaRPr sz="4000"/>
          </a:p>
        </p:txBody>
      </p:sp>
      <p:sp>
        <p:nvSpPr>
          <p:cNvPr id="322" name="Google Shape;322;p30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71500" lvl="0" indent="-3429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sz="1729" dirty="0">
                <a:solidFill>
                  <a:schemeClr val="dk1"/>
                </a:solidFill>
              </a:rPr>
              <a:t>Format:</a:t>
            </a:r>
            <a:endParaRPr dirty="0"/>
          </a:p>
          <a:p>
            <a:pPr marL="571500" lvl="0" indent="-342900" algn="l" rtl="0">
              <a:lnSpc>
                <a:spcPct val="114000"/>
              </a:lnSpc>
              <a:spcBef>
                <a:spcPts val="2520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sz="1729" dirty="0"/>
              <a:t>Ex:</a:t>
            </a:r>
            <a:endParaRPr dirty="0"/>
          </a:p>
        </p:txBody>
      </p:sp>
      <p:graphicFrame>
        <p:nvGraphicFramePr>
          <p:cNvPr id="323" name="Google Shape;323;p30"/>
          <p:cNvGraphicFramePr/>
          <p:nvPr>
            <p:extLst>
              <p:ext uri="{D42A27DB-BD31-4B8C-83A1-F6EECF244321}">
                <p14:modId xmlns:p14="http://schemas.microsoft.com/office/powerpoint/2010/main" val="3406094137"/>
              </p:ext>
            </p:extLst>
          </p:nvPr>
        </p:nvGraphicFramePr>
        <p:xfrm>
          <a:off x="4484915" y="1296867"/>
          <a:ext cx="6032950" cy="534248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98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Test Operator</a:t>
                      </a:r>
                      <a:endParaRPr sz="1300" b="1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Tests True If</a:t>
                      </a:r>
                      <a:endParaRPr sz="1300" b="1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String Test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string1 == string2 ]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string1 is equal to string2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string1 != string2]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string1 is not equal to string2</a:t>
                      </a:r>
                      <a:endParaRPr sz="1300" u="none" strike="noStrike" cap="none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99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 dirty="0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-z string ]</a:t>
                      </a:r>
                      <a:endParaRPr sz="1300" u="none" strike="noStrike" cap="none" dirty="0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Length of string is zero</a:t>
                      </a:r>
                      <a:endParaRPr sz="13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-n string ]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Length of string is non-zero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-l string ]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Length of string</a:t>
                      </a:r>
                      <a:endParaRPr sz="13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Logical Test</a:t>
                      </a:r>
                      <a:endParaRPr sz="1300" u="none" strike="noStrike" cap="none">
                        <a:solidFill>
                          <a:srgbClr val="00B050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pattern1 -a pattern2 ]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Both pattern1 and pattern2 are true</a:t>
                      </a:r>
                      <a:endParaRPr sz="13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pattern1 –o pattern2 ]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Either pattern1 or pattern2 is true</a:t>
                      </a:r>
                      <a:endParaRPr sz="13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! pattern ]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Not a pattern match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Integer Test</a:t>
                      </a:r>
                      <a:endParaRPr/>
                    </a:p>
                  </a:txBody>
                  <a:tcPr marL="96875" marR="96875" marT="48425" marB="48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6875" marR="96875" marT="48425" marB="48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int1 –eq int2 ]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int1 is equal to int2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int1 –ne int2 ]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int1 is not equal to int2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int1 –gt int2 ]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int1 is greater than int2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int1 –ge int2 ]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int1 is greater than or equal to int2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int1 –lt int2 ]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int1 is less than int2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00B05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[ int1 –le int2 ]</a:t>
                      </a:r>
                      <a:endParaRPr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 dirty="0"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int1 is less than or equal to int2</a:t>
                      </a:r>
                      <a:endParaRPr dirty="0"/>
                    </a:p>
                  </a:txBody>
                  <a:tcPr marL="96875" marR="96875" marT="48425" marB="48425"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15438" y="1701357"/>
            <a:ext cx="2772800" cy="2799207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6654" rIns="0" bIns="64008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command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b="1" dirty="0" err="1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command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command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command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15438" y="5216759"/>
            <a:ext cx="2451662" cy="1317391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6654" rIns="0" bIns="64008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7000"/>
              </a:lnSpc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804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$a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804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$max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max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b="1" dirty="0">
                <a:solidFill>
                  <a:srgbClr val="FF804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329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/>
              <a:t>Bash language - Loop</a:t>
            </a:r>
            <a:endParaRPr sz="4000"/>
          </a:p>
        </p:txBody>
      </p:sp>
      <p:sp>
        <p:nvSpPr>
          <p:cNvPr id="330" name="Google Shape;330;p31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71500" lvl="0" indent="-3429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sz="1729" dirty="0">
                <a:solidFill>
                  <a:schemeClr val="dk1"/>
                </a:solidFill>
              </a:rPr>
              <a:t>Format:</a:t>
            </a:r>
            <a:endParaRPr dirty="0"/>
          </a:p>
          <a:p>
            <a:pPr marL="571500" lvl="0" indent="-342900" algn="just" rtl="0">
              <a:lnSpc>
                <a:spcPct val="114000"/>
              </a:lnSpc>
              <a:spcBef>
                <a:spcPts val="1140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sz="1729" dirty="0"/>
              <a:t>Ex:</a:t>
            </a:r>
          </a:p>
        </p:txBody>
      </p:sp>
      <p:sp>
        <p:nvSpPr>
          <p:cNvPr id="4" name="Rectangle 3"/>
          <p:cNvSpPr/>
          <p:nvPr/>
        </p:nvSpPr>
        <p:spPr>
          <a:xfrm>
            <a:off x="1885168" y="1739901"/>
            <a:ext cx="3347232" cy="1092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07000"/>
              </a:lnSpc>
            </a:pP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variable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word_list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command</a:t>
            </a:r>
            <a:r>
              <a:rPr lang="en-US" sz="1400" b="1" dirty="0">
                <a:solidFill>
                  <a:srgbClr val="804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b="1" dirty="0">
                <a:solidFill>
                  <a:srgbClr val="804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6784" y="3465635"/>
            <a:ext cx="10517016" cy="29097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07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$ for pal in 1 2 3 4 5; do echo "$pal"; done</a:t>
            </a:r>
          </a:p>
          <a:p>
            <a:pPr>
              <a:lnSpc>
                <a:spcPct val="107000"/>
              </a:lnSpc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</a:p>
          <a:p>
            <a:pPr>
              <a:lnSpc>
                <a:spcPct val="107000"/>
              </a:lnSpc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</a:p>
          <a:p>
            <a:pPr>
              <a:lnSpc>
                <a:spcPct val="107000"/>
              </a:lnSpc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3</a:t>
            </a:r>
          </a:p>
          <a:p>
            <a:pPr>
              <a:lnSpc>
                <a:spcPct val="107000"/>
              </a:lnSpc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4</a:t>
            </a:r>
          </a:p>
          <a:p>
            <a:pPr>
              <a:lnSpc>
                <a:spcPct val="107000"/>
              </a:lnSpc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pPr>
              <a:lnSpc>
                <a:spcPct val="107000"/>
              </a:lnSpc>
            </a:pPr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for file in `ls`; do if [ -f $file ]; then echo "$file: is a file"; fi; done #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to check it is a file type or not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7000"/>
              </a:lnSpc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README.md: is a file</a:t>
            </a:r>
          </a:p>
          <a:p>
            <a:pPr>
              <a:lnSpc>
                <a:spcPct val="107000"/>
              </a:lnSpc>
            </a:pPr>
            <a:r>
              <a:rPr lang="en-US" sz="1600" i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setup_workspace.sh: is a file</a:t>
            </a:r>
          </a:p>
        </p:txBody>
      </p:sp>
    </p:spTree>
    <p:extLst>
      <p:ext uri="{BB962C8B-B14F-4D97-AF65-F5344CB8AC3E}">
        <p14:creationId xmlns:p14="http://schemas.microsoft.com/office/powerpoint/2010/main" val="952857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dirty="0"/>
              <a:t>Bash language – Sample Script</a:t>
            </a:r>
            <a:endParaRPr sz="4000" dirty="0"/>
          </a:p>
        </p:txBody>
      </p:sp>
      <p:sp>
        <p:nvSpPr>
          <p:cNvPr id="330" name="Google Shape;330;p31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71500" lvl="0" indent="-3429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sz="1729" dirty="0">
                <a:solidFill>
                  <a:schemeClr val="dk1"/>
                </a:solidFill>
              </a:rPr>
              <a:t>Sample script: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1462452" y="1767254"/>
            <a:ext cx="2669932" cy="46950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70C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$ cat a.sh</a:t>
            </a:r>
            <a:endParaRPr lang="en-US" sz="1400" dirty="0">
              <a:solidFill>
                <a:srgbClr val="0070C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8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#!/bin/bash</a:t>
            </a:r>
            <a:endParaRPr lang="en-US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input_dir</a:t>
            </a:r>
            <a:r>
              <a:rPr lang="en-US" sz="1400" b="1" dirty="0">
                <a:solidFill>
                  <a:srgbClr val="804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b="1" dirty="0">
                <a:solidFill>
                  <a:srgbClr val="FF804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$1</a:t>
            </a:r>
            <a:endParaRPr lang="en-US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sz="1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80404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`ls $</a:t>
            </a:r>
            <a:r>
              <a:rPr lang="en-US" sz="1400" b="1" dirty="0" err="1">
                <a:solidFill>
                  <a:srgbClr val="80404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input_dir</a:t>
            </a:r>
            <a:r>
              <a:rPr lang="en-US" sz="1400" b="1" dirty="0">
                <a:solidFill>
                  <a:srgbClr val="80404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`</a:t>
            </a:r>
            <a:endParaRPr lang="en-US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endParaRPr lang="en-US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echo</a:t>
            </a:r>
            <a:r>
              <a:rPr lang="en-US" sz="14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FF804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$file</a:t>
            </a:r>
            <a:endParaRPr lang="en-US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US" sz="1400" b="1" dirty="0">
                <a:solidFill>
                  <a:srgbClr val="0000F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</a:p>
          <a:p>
            <a:pPr>
              <a:lnSpc>
                <a:spcPct val="107000"/>
              </a:lnSpc>
            </a:pPr>
            <a:endParaRPr lang="en-US" sz="1400" b="1" dirty="0">
              <a:solidFill>
                <a:srgbClr val="0000FF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$ ./a.sh /c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$</a:t>
            </a:r>
            <a:r>
              <a:rPr lang="en-US" sz="1400" i="1" dirty="0" err="1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Recycle.Bin</a:t>
            </a:r>
            <a:endParaRPr lang="en-US" sz="1400" i="1" dirty="0">
              <a:solidFill>
                <a:schemeClr val="tx1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$WINDOWS.~BT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Cygwin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Documents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400" i="1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Settings</a:t>
            </a:r>
          </a:p>
          <a:p>
            <a:pPr>
              <a:lnSpc>
                <a:spcPct val="107000"/>
              </a:lnSpc>
            </a:pPr>
            <a:endParaRPr lang="en-US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6719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/>
              <a:t>Bash language - Exercise</a:t>
            </a:r>
            <a:endParaRPr sz="4000"/>
          </a:p>
        </p:txBody>
      </p:sp>
      <p:sp>
        <p:nvSpPr>
          <p:cNvPr id="344" name="Google Shape;344;p33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71500" lvl="0" indent="-3429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sz="1729" b="1" dirty="0">
                <a:solidFill>
                  <a:schemeClr val="dk1"/>
                </a:solidFill>
              </a:rPr>
              <a:t>Exercise 1: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463" dirty="0">
                <a:solidFill>
                  <a:schemeClr val="dk1"/>
                </a:solidFill>
              </a:rPr>
              <a:t>Write a script to update your SVN local automatically as follow requirement:</a:t>
            </a:r>
            <a:endParaRPr dirty="0"/>
          </a:p>
          <a:p>
            <a:pPr marL="1790669" lvl="2" indent="-34290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-US" sz="1463" dirty="0">
                <a:solidFill>
                  <a:schemeClr val="dk1"/>
                </a:solidFill>
              </a:rPr>
              <a:t>Update base on schedule table of hour: 8h, 10h, 13h, 15h.</a:t>
            </a:r>
            <a:endParaRPr dirty="0"/>
          </a:p>
          <a:p>
            <a:pPr marL="1790669" lvl="2" indent="-34290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-US" sz="1463" dirty="0">
                <a:solidFill>
                  <a:schemeClr val="dk1"/>
                </a:solidFill>
              </a:rPr>
              <a:t>If the hour is match, task will execute then sleep 1 hour. Otherwise, sleep 10 minutes to reduce the workload for CPU.</a:t>
            </a:r>
            <a:endParaRPr dirty="0"/>
          </a:p>
          <a:p>
            <a:pPr marL="1790669" lvl="2" indent="-34290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-US" sz="1463" dirty="0">
                <a:solidFill>
                  <a:schemeClr val="dk1"/>
                </a:solidFill>
              </a:rPr>
              <a:t>Suggestion: </a:t>
            </a:r>
            <a:r>
              <a:rPr lang="en-US" sz="1463" dirty="0" err="1">
                <a:solidFill>
                  <a:schemeClr val="dk1"/>
                </a:solidFill>
              </a:rPr>
              <a:t>svn</a:t>
            </a:r>
            <a:r>
              <a:rPr lang="en-US" sz="1463" dirty="0">
                <a:solidFill>
                  <a:schemeClr val="dk1"/>
                </a:solidFill>
              </a:rPr>
              <a:t> update, sleep 10m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01567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/>
              <a:t>Bash language - Exercise</a:t>
            </a:r>
            <a:endParaRPr sz="4000"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71500" lvl="0" indent="-34290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Symbols"/>
              <a:buChar char="❑"/>
            </a:pPr>
            <a:r>
              <a:rPr lang="en-US" sz="1729" b="1" dirty="0">
                <a:solidFill>
                  <a:schemeClr val="dk1"/>
                </a:solidFill>
              </a:rPr>
              <a:t>Exercise 2:</a:t>
            </a:r>
            <a:endParaRPr dirty="0"/>
          </a:p>
          <a:p>
            <a:pPr marL="1123935" lvl="1" indent="-285750" algn="just" rtl="0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463" dirty="0">
                <a:solidFill>
                  <a:schemeClr val="dk1"/>
                </a:solidFill>
              </a:rPr>
              <a:t>Write a script to collect the summary result of test log output as follow requirement:</a:t>
            </a:r>
            <a:endParaRPr dirty="0"/>
          </a:p>
          <a:p>
            <a:pPr marL="1790669" lvl="2" indent="-34290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-US" sz="1460" dirty="0">
                <a:solidFill>
                  <a:schemeClr val="dk1"/>
                </a:solidFill>
              </a:rPr>
              <a:t>Input file: </a:t>
            </a:r>
            <a:r>
              <a:rPr lang="en-US" sz="1460" dirty="0" err="1"/>
              <a:t>c_cpp</a:t>
            </a:r>
            <a:r>
              <a:rPr lang="en-US" sz="1460" dirty="0"/>
              <a:t>/99_exercise/00_BASH/</a:t>
            </a:r>
            <a:r>
              <a:rPr lang="en-US" sz="1460" dirty="0" err="1"/>
              <a:t>ex_loop</a:t>
            </a:r>
            <a:r>
              <a:rPr lang="en-US" sz="1460" dirty="0"/>
              <a:t>/</a:t>
            </a:r>
            <a:r>
              <a:rPr lang="en-US" sz="1460" dirty="0" err="1"/>
              <a:t>test_log.json</a:t>
            </a:r>
            <a:endParaRPr sz="1460" dirty="0"/>
          </a:p>
          <a:p>
            <a:pPr marL="1790669" lvl="2" indent="-34290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-US" sz="1460" dirty="0">
                <a:solidFill>
                  <a:schemeClr val="dk1"/>
                </a:solidFill>
              </a:rPr>
              <a:t>Upload your script and log output to GIT Server</a:t>
            </a:r>
            <a:endParaRPr sz="1460" dirty="0"/>
          </a:p>
          <a:p>
            <a:pPr marL="1790669" lvl="2" indent="-342900" algn="just" rtl="0">
              <a:lnSpc>
                <a:spcPct val="115000"/>
              </a:lnSpc>
              <a:spcBef>
                <a:spcPts val="667"/>
              </a:spcBef>
              <a:spcAft>
                <a:spcPts val="0"/>
              </a:spcAft>
              <a:buSzPts val="1300"/>
              <a:buFont typeface="Arial"/>
              <a:buAutoNum type="arabicPeriod"/>
            </a:pPr>
            <a:r>
              <a:rPr lang="en-US" sz="1460" dirty="0">
                <a:solidFill>
                  <a:schemeClr val="dk1"/>
                </a:solidFill>
              </a:rPr>
              <a:t>Output format</a:t>
            </a:r>
            <a:endParaRPr sz="1460" dirty="0"/>
          </a:p>
        </p:txBody>
      </p:sp>
      <p:sp>
        <p:nvSpPr>
          <p:cNvPr id="355" name="Google Shape;355;p34"/>
          <p:cNvSpPr txBox="1"/>
          <p:nvPr/>
        </p:nvSpPr>
        <p:spPr>
          <a:xfrm>
            <a:off x="1079500" y="6034563"/>
            <a:ext cx="7848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Suggestion: sed –n or grep –A, …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600" y="3149600"/>
            <a:ext cx="8986800" cy="1155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5"/>
                </a:solidFill>
              </a:rPr>
              <a:t>$ ./a.sh ~/Desktop/Material/</a:t>
            </a:r>
            <a:r>
              <a:rPr lang="en-US" dirty="0" err="1">
                <a:solidFill>
                  <a:schemeClr val="accent5"/>
                </a:solidFill>
              </a:rPr>
              <a:t>c_cpp</a:t>
            </a:r>
            <a:r>
              <a:rPr lang="en-US" dirty="0">
                <a:solidFill>
                  <a:schemeClr val="accent5"/>
                </a:solidFill>
              </a:rPr>
              <a:t>/99_exercise/</a:t>
            </a:r>
            <a:r>
              <a:rPr lang="en-US" dirty="0" err="1">
                <a:solidFill>
                  <a:schemeClr val="accent5"/>
                </a:solidFill>
              </a:rPr>
              <a:t>aaaa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i="1" dirty="0">
                <a:solidFill>
                  <a:schemeClr val="tx1"/>
                </a:solidFill>
              </a:rPr>
              <a:t>File /c/Users/</a:t>
            </a:r>
            <a:r>
              <a:rPr lang="en-US" i="1" dirty="0" err="1">
                <a:solidFill>
                  <a:schemeClr val="tx1"/>
                </a:solidFill>
              </a:rPr>
              <a:t>hieu.nguyen-trung</a:t>
            </a:r>
            <a:r>
              <a:rPr lang="en-US" i="1" dirty="0">
                <a:solidFill>
                  <a:schemeClr val="tx1"/>
                </a:solidFill>
              </a:rPr>
              <a:t>/Desktop/Material/</a:t>
            </a:r>
            <a:r>
              <a:rPr lang="en-US" i="1" dirty="0" err="1">
                <a:solidFill>
                  <a:schemeClr val="tx1"/>
                </a:solidFill>
              </a:rPr>
              <a:t>c_cpp</a:t>
            </a:r>
            <a:r>
              <a:rPr lang="en-US" i="1" dirty="0">
                <a:solidFill>
                  <a:schemeClr val="tx1"/>
                </a:solidFill>
              </a:rPr>
              <a:t>/99_exercise/</a:t>
            </a:r>
            <a:r>
              <a:rPr lang="en-US" i="1" dirty="0" err="1">
                <a:solidFill>
                  <a:schemeClr val="tx1"/>
                </a:solidFill>
              </a:rPr>
              <a:t>aaaa</a:t>
            </a:r>
            <a:r>
              <a:rPr lang="en-US" i="1" dirty="0">
                <a:solidFill>
                  <a:schemeClr val="tx1"/>
                </a:solidFill>
              </a:rPr>
              <a:t>: is not exist</a:t>
            </a:r>
          </a:p>
          <a:p>
            <a:r>
              <a:rPr lang="en-US" dirty="0">
                <a:solidFill>
                  <a:schemeClr val="accent5"/>
                </a:solidFill>
              </a:rPr>
              <a:t>$ ./a.sh ~/Desktop/Material/</a:t>
            </a:r>
            <a:r>
              <a:rPr lang="en-US" dirty="0" err="1">
                <a:solidFill>
                  <a:schemeClr val="accent5"/>
                </a:solidFill>
              </a:rPr>
              <a:t>c_cpp</a:t>
            </a:r>
            <a:r>
              <a:rPr lang="en-US" dirty="0">
                <a:solidFill>
                  <a:schemeClr val="accent5"/>
                </a:solidFill>
              </a:rPr>
              <a:t>/99_exercise/00_BASH/datafile.txt</a:t>
            </a:r>
          </a:p>
          <a:p>
            <a:r>
              <a:rPr lang="en-US" i="1" dirty="0">
                <a:solidFill>
                  <a:schemeClr val="tx1"/>
                </a:solidFill>
              </a:rPr>
              <a:t>Please specify to the </a:t>
            </a:r>
            <a:r>
              <a:rPr lang="en-US" i="1" dirty="0" err="1">
                <a:solidFill>
                  <a:schemeClr val="tx1"/>
                </a:solidFill>
              </a:rPr>
              <a:t>test_log.json</a:t>
            </a:r>
            <a:endParaRPr lang="en-US" i="1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00" y="4508851"/>
            <a:ext cx="11539500" cy="83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564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 Condensed"/>
              <a:buNone/>
            </a:pPr>
            <a:r>
              <a:rPr lang="en-US" dirty="0"/>
              <a:t>Documents</a:t>
            </a:r>
            <a:endParaRPr sz="4000"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body" idx="1"/>
          </p:nvPr>
        </p:nvSpPr>
        <p:spPr>
          <a:xfrm>
            <a:off x="436600" y="1296867"/>
            <a:ext cx="11310400" cy="530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571500" lvl="0" indent="-342900">
              <a:buFont typeface="Noto Sans Symbols"/>
              <a:buChar char="❑"/>
            </a:pPr>
            <a:r>
              <a:rPr lang="en-US" dirty="0">
                <a:solidFill>
                  <a:schemeClr val="dk1"/>
                </a:solidFill>
              </a:rPr>
              <a:t>UNIX Shells by Example Fourth Edition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363" name="Google Shape;363;p35" descr="Image result for unix shells by example 4th edition pd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4487" y="2038839"/>
            <a:ext cx="2714625" cy="36002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62933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5C3B1-A73A-410E-A6BB-4A6E409B9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377" y="89504"/>
            <a:ext cx="4579283" cy="5190800"/>
          </a:xfrm>
        </p:spPr>
        <p:txBody>
          <a:bodyPr/>
          <a:lstStyle/>
          <a:p>
            <a:r>
              <a:rPr lang="en-US" sz="1200" dirty="0"/>
              <a:t> 1  ls</a:t>
            </a:r>
          </a:p>
          <a:p>
            <a:r>
              <a:rPr lang="en-US" sz="1200" dirty="0"/>
              <a:t>    2  ls -a</a:t>
            </a:r>
          </a:p>
          <a:p>
            <a:r>
              <a:rPr lang="en-US" sz="1200" dirty="0"/>
              <a:t>    3  ls -al</a:t>
            </a:r>
          </a:p>
          <a:p>
            <a:r>
              <a:rPr lang="en-US" sz="1200" dirty="0"/>
              <a:t>    4  ls -l</a:t>
            </a:r>
          </a:p>
          <a:p>
            <a:r>
              <a:rPr lang="en-US" sz="1200" dirty="0"/>
              <a:t>    5  cp a.txt c.txt</a:t>
            </a:r>
          </a:p>
          <a:p>
            <a:r>
              <a:rPr lang="en-US" sz="1200" dirty="0"/>
              <a:t>    6  ls -l</a:t>
            </a:r>
          </a:p>
          <a:p>
            <a:r>
              <a:rPr lang="en-US" sz="1200" dirty="0"/>
              <a:t>    7  cat c.txt</a:t>
            </a:r>
          </a:p>
          <a:p>
            <a:r>
              <a:rPr lang="en-US" sz="1200" dirty="0"/>
              <a:t>    8  vim c.txt</a:t>
            </a:r>
          </a:p>
          <a:p>
            <a:r>
              <a:rPr lang="en-US" sz="1200" dirty="0"/>
              <a:t>    9  vi c.txt</a:t>
            </a:r>
          </a:p>
          <a:p>
            <a:r>
              <a:rPr lang="en-US" sz="1200" dirty="0"/>
              <a:t>   10  cat c.txt</a:t>
            </a:r>
          </a:p>
          <a:p>
            <a:r>
              <a:rPr lang="en-US" sz="1200" dirty="0"/>
              <a:t>   11  vi c.txt</a:t>
            </a:r>
          </a:p>
          <a:p>
            <a:r>
              <a:rPr lang="en-US" sz="1200" dirty="0"/>
              <a:t>   12  vi c.txt</a:t>
            </a:r>
          </a:p>
          <a:p>
            <a:r>
              <a:rPr lang="en-US" sz="1200" dirty="0"/>
              <a:t>   13  cat c.txt</a:t>
            </a:r>
          </a:p>
          <a:p>
            <a:r>
              <a:rPr lang="en-US" sz="1200" dirty="0"/>
              <a:t>   14  vi c.txt</a:t>
            </a:r>
          </a:p>
          <a:p>
            <a:r>
              <a:rPr lang="en-US" sz="1200" dirty="0"/>
              <a:t>   15  cp -r tool </a:t>
            </a:r>
            <a:r>
              <a:rPr lang="en-US" sz="1200" dirty="0" err="1"/>
              <a:t>tool_copied</a:t>
            </a:r>
            <a:endParaRPr lang="en-US" sz="1200" dirty="0"/>
          </a:p>
          <a:p>
            <a:r>
              <a:rPr lang="en-US" sz="1200" dirty="0"/>
              <a:t>   16  rm -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tool_copied</a:t>
            </a:r>
            <a:r>
              <a:rPr lang="en-US" sz="1200" dirty="0"/>
              <a:t>/</a:t>
            </a:r>
          </a:p>
          <a:p>
            <a:r>
              <a:rPr lang="en-US" sz="1200" dirty="0"/>
              <a:t>   17  rm </a:t>
            </a:r>
            <a:r>
              <a:rPr lang="en-US" sz="1200" dirty="0" err="1"/>
              <a:t>tool_copied</a:t>
            </a:r>
            <a:r>
              <a:rPr lang="en-US" sz="1200" dirty="0"/>
              <a:t>/</a:t>
            </a:r>
          </a:p>
          <a:p>
            <a:r>
              <a:rPr lang="en-US" sz="1200" dirty="0"/>
              <a:t>   18  rm -r </a:t>
            </a:r>
            <a:r>
              <a:rPr lang="en-US" sz="1200" dirty="0" err="1"/>
              <a:t>tool_copied</a:t>
            </a:r>
            <a:r>
              <a:rPr lang="en-US" sz="1200" dirty="0"/>
              <a:t>/</a:t>
            </a:r>
          </a:p>
          <a:p>
            <a:r>
              <a:rPr lang="en-US" sz="1200" dirty="0"/>
              <a:t>   19  cp -r tool </a:t>
            </a:r>
            <a:r>
              <a:rPr lang="en-US" sz="1200" dirty="0" err="1"/>
              <a:t>tool_copied</a:t>
            </a:r>
            <a:endParaRPr lang="en-US" sz="1200" dirty="0"/>
          </a:p>
          <a:p>
            <a:r>
              <a:rPr lang="en-US" sz="1200" dirty="0"/>
              <a:t>   20  ls </a:t>
            </a:r>
            <a:r>
              <a:rPr lang="en-US" sz="1200" dirty="0" err="1"/>
              <a:t>tool_copied</a:t>
            </a:r>
            <a:r>
              <a:rPr lang="en-US" sz="1200" dirty="0"/>
              <a:t>/</a:t>
            </a:r>
          </a:p>
          <a:p>
            <a:r>
              <a:rPr lang="en-US" sz="1200" dirty="0"/>
              <a:t>   21  cd </a:t>
            </a:r>
            <a:r>
              <a:rPr lang="en-US" sz="1200" dirty="0" err="1"/>
              <a:t>tool_copied</a:t>
            </a:r>
            <a:r>
              <a:rPr lang="en-US" sz="1200" dirty="0"/>
              <a:t>/</a:t>
            </a:r>
          </a:p>
          <a:p>
            <a:r>
              <a:rPr lang="en-US" sz="1200" dirty="0"/>
              <a:t>   22  ls -l</a:t>
            </a:r>
          </a:p>
          <a:p>
            <a:r>
              <a:rPr lang="en-US" sz="1200" dirty="0"/>
              <a:t>   23  rm -</a:t>
            </a:r>
            <a:r>
              <a:rPr lang="en-US" sz="1200" dirty="0" err="1"/>
              <a:t>i</a:t>
            </a:r>
            <a:r>
              <a:rPr lang="en-US" sz="1200" dirty="0"/>
              <a:t> Script_Param.xlsm</a:t>
            </a:r>
          </a:p>
          <a:p>
            <a:r>
              <a:rPr lang="en-US" sz="1200" dirty="0"/>
              <a:t>   24  rm -f Script_Param.xlsm KDiff3-0.9.92-2.zip</a:t>
            </a:r>
          </a:p>
          <a:p>
            <a:r>
              <a:rPr lang="en-US" sz="1200" dirty="0"/>
              <a:t>   25  ls -l</a:t>
            </a:r>
          </a:p>
          <a:p>
            <a:endParaRPr lang="en-US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F77BBC-6557-429B-9BD7-5BAAE4FF754F}"/>
              </a:ext>
            </a:extLst>
          </p:cNvPr>
          <p:cNvSpPr/>
          <p:nvPr/>
        </p:nvSpPr>
        <p:spPr>
          <a:xfrm>
            <a:off x="4610470" y="89504"/>
            <a:ext cx="304208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 26  </a:t>
            </a:r>
            <a:r>
              <a:rPr lang="en-US" sz="1200" dirty="0" err="1"/>
              <a:t>pwd</a:t>
            </a:r>
            <a:endParaRPr lang="en-US" sz="1200" dirty="0"/>
          </a:p>
          <a:p>
            <a:r>
              <a:rPr lang="en-US" sz="1200" dirty="0"/>
              <a:t>   27  history</a:t>
            </a:r>
          </a:p>
          <a:p>
            <a:r>
              <a:rPr lang="en-US" sz="1200" dirty="0"/>
              <a:t>   28  touch w.txt</a:t>
            </a:r>
          </a:p>
          <a:p>
            <a:r>
              <a:rPr lang="en-US" sz="1200" dirty="0"/>
              <a:t>   29  vim w.txt</a:t>
            </a:r>
          </a:p>
          <a:p>
            <a:r>
              <a:rPr lang="en-US" sz="1200" dirty="0"/>
              <a:t>   30  cat w.txt</a:t>
            </a:r>
          </a:p>
          <a:p>
            <a:r>
              <a:rPr lang="en-US" sz="1200" dirty="0"/>
              <a:t>   31  cat -c w.txt</a:t>
            </a:r>
          </a:p>
          <a:p>
            <a:r>
              <a:rPr lang="en-US" sz="1200" dirty="0"/>
              <a:t>   32  cat --help</a:t>
            </a:r>
          </a:p>
          <a:p>
            <a:r>
              <a:rPr lang="pt-BR" sz="1200" dirty="0"/>
              <a:t>   33  cat -n w.txt</a:t>
            </a:r>
          </a:p>
          <a:p>
            <a:r>
              <a:rPr lang="en-US" sz="1200" dirty="0"/>
              <a:t>   34  cat -T w.txt</a:t>
            </a:r>
          </a:p>
          <a:p>
            <a:r>
              <a:rPr lang="en-US" sz="1200" dirty="0"/>
              <a:t>   35  cat -A w.txt</a:t>
            </a:r>
          </a:p>
          <a:p>
            <a:r>
              <a:rPr lang="en-US" sz="1200" dirty="0"/>
              <a:t>   36  grep</a:t>
            </a:r>
          </a:p>
          <a:p>
            <a:r>
              <a:rPr lang="en-US" sz="1200" dirty="0"/>
              <a:t>   37  grep --help</a:t>
            </a:r>
          </a:p>
          <a:p>
            <a:r>
              <a:rPr lang="en-US" sz="1200" dirty="0"/>
              <a:t>   38  grep -f w.txt</a:t>
            </a:r>
          </a:p>
          <a:p>
            <a:r>
              <a:rPr lang="en-US" sz="1200" dirty="0"/>
              <a:t>   39  grep -c w.txt</a:t>
            </a:r>
          </a:p>
          <a:p>
            <a:r>
              <a:rPr lang="sv-SE" sz="1200" dirty="0"/>
              <a:t>   40  grep -c 'w.txt'</a:t>
            </a:r>
          </a:p>
          <a:p>
            <a:r>
              <a:rPr lang="en-US" sz="1200" dirty="0"/>
              <a:t>   41  find -c w.txt</a:t>
            </a:r>
          </a:p>
          <a:p>
            <a:r>
              <a:rPr lang="en-US" sz="1200" dirty="0"/>
              <a:t>   42  find --help</a:t>
            </a:r>
          </a:p>
          <a:p>
            <a:r>
              <a:rPr lang="en-US" sz="1200" dirty="0"/>
              <a:t>   43  find w.txt</a:t>
            </a:r>
          </a:p>
          <a:p>
            <a:r>
              <a:rPr lang="en-US" sz="1200" dirty="0"/>
              <a:t>   44  find -c w.txt</a:t>
            </a:r>
          </a:p>
          <a:p>
            <a:r>
              <a:rPr lang="en-US" sz="1200" dirty="0"/>
              <a:t>   45  cat -n w.txt | head -2</a:t>
            </a:r>
          </a:p>
          <a:p>
            <a:r>
              <a:rPr lang="en-US" sz="1200" dirty="0"/>
              <a:t>   46  cat -n w.txt | head -5</a:t>
            </a:r>
          </a:p>
          <a:p>
            <a:r>
              <a:rPr lang="en-US" sz="1200" dirty="0"/>
              <a:t>   47  vim w.txt</a:t>
            </a:r>
          </a:p>
          <a:p>
            <a:r>
              <a:rPr lang="en-US" sz="1200" dirty="0"/>
              <a:t>   48  cat -c w.txt</a:t>
            </a:r>
          </a:p>
          <a:p>
            <a:r>
              <a:rPr lang="en-US" sz="1200" dirty="0"/>
              <a:t>   49  cat w.txt</a:t>
            </a:r>
          </a:p>
          <a:p>
            <a:r>
              <a:rPr lang="en-US" sz="1200" dirty="0"/>
              <a:t>   50  cat w.txt | tail 2</a:t>
            </a:r>
          </a:p>
          <a:p>
            <a:r>
              <a:rPr lang="en-US" sz="1200" dirty="0"/>
              <a:t>   51  cat w.txt | tail -2</a:t>
            </a:r>
          </a:p>
          <a:p>
            <a:r>
              <a:rPr lang="en-US" sz="1200" dirty="0"/>
              <a:t>   52  grep --help</a:t>
            </a:r>
          </a:p>
          <a:p>
            <a:r>
              <a:rPr lang="en-US" sz="1200" dirty="0"/>
              <a:t>   53  grep -</a:t>
            </a:r>
            <a:r>
              <a:rPr lang="en-US" sz="1200" dirty="0" err="1"/>
              <a:t>i</a:t>
            </a:r>
            <a:r>
              <a:rPr lang="en-US" sz="1200" dirty="0"/>
              <a:t> '</a:t>
            </a:r>
            <a:r>
              <a:rPr lang="en-US" sz="1200" dirty="0" err="1"/>
              <a:t>hoa</a:t>
            </a:r>
            <a:r>
              <a:rPr lang="en-US" sz="1200" dirty="0"/>
              <a:t>' w.txt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4B117F-E56A-40B3-AD1F-F57DEBCEB4B9}"/>
              </a:ext>
            </a:extLst>
          </p:cNvPr>
          <p:cNvSpPr/>
          <p:nvPr/>
        </p:nvSpPr>
        <p:spPr>
          <a:xfrm>
            <a:off x="7424692" y="8950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 54  grep -w '</a:t>
            </a:r>
            <a:r>
              <a:rPr lang="en-US" sz="1200" dirty="0" err="1"/>
              <a:t>hoa</a:t>
            </a:r>
            <a:r>
              <a:rPr lang="en-US" sz="1200" dirty="0"/>
              <a:t>' w.txt</a:t>
            </a:r>
          </a:p>
          <a:p>
            <a:r>
              <a:rPr lang="en-US" sz="1200" dirty="0"/>
              <a:t>   55  grep -</a:t>
            </a:r>
            <a:r>
              <a:rPr lang="en-US" sz="1200" dirty="0" err="1"/>
              <a:t>i</a:t>
            </a:r>
            <a:r>
              <a:rPr lang="en-US" sz="1200" dirty="0"/>
              <a:t> -c '</a:t>
            </a:r>
            <a:r>
              <a:rPr lang="en-US" sz="1200" dirty="0" err="1"/>
              <a:t>hoa</a:t>
            </a:r>
            <a:r>
              <a:rPr lang="en-US" sz="1200" dirty="0"/>
              <a:t>' w.txt</a:t>
            </a:r>
          </a:p>
          <a:p>
            <a:r>
              <a:rPr lang="en-US" sz="1200" dirty="0"/>
              <a:t>   56  cat -n w.txt | tail -2</a:t>
            </a:r>
          </a:p>
          <a:p>
            <a:r>
              <a:rPr lang="en-US" sz="1200" dirty="0"/>
              <a:t>   57  history</a:t>
            </a:r>
          </a:p>
          <a:p>
            <a:r>
              <a:rPr lang="en-US" sz="1200" dirty="0"/>
              <a:t>   58  grep --help</a:t>
            </a:r>
          </a:p>
          <a:p>
            <a:r>
              <a:rPr lang="en-US" sz="1200" dirty="0"/>
              <a:t>   59  </a:t>
            </a:r>
            <a:r>
              <a:rPr lang="en-US" sz="1200" dirty="0" err="1"/>
              <a:t>wc</a:t>
            </a:r>
            <a:r>
              <a:rPr lang="en-US" sz="1200" dirty="0"/>
              <a:t> w.txt</a:t>
            </a:r>
          </a:p>
          <a:p>
            <a:r>
              <a:rPr lang="en-US" sz="1200" dirty="0"/>
              <a:t>   60  </a:t>
            </a:r>
            <a:r>
              <a:rPr lang="en-US" sz="1200" dirty="0" err="1"/>
              <a:t>wc</a:t>
            </a:r>
            <a:r>
              <a:rPr lang="en-US" sz="1200" dirty="0"/>
              <a:t> -l w.txt</a:t>
            </a:r>
          </a:p>
          <a:p>
            <a:r>
              <a:rPr lang="en-US" sz="1200" dirty="0"/>
              <a:t>   61  </a:t>
            </a:r>
            <a:r>
              <a:rPr lang="en-US" sz="1200" dirty="0" err="1"/>
              <a:t>wc</a:t>
            </a:r>
            <a:r>
              <a:rPr lang="en-US" sz="1200" dirty="0"/>
              <a:t> -c w.txt</a:t>
            </a:r>
          </a:p>
          <a:p>
            <a:r>
              <a:rPr lang="pl-PL" sz="1200" dirty="0"/>
              <a:t>   62  wc -w w.txt</a:t>
            </a:r>
          </a:p>
          <a:p>
            <a:r>
              <a:rPr lang="en-US" sz="1200" dirty="0"/>
              <a:t>   63  history</a:t>
            </a:r>
          </a:p>
        </p:txBody>
      </p:sp>
    </p:spTree>
    <p:extLst>
      <p:ext uri="{BB962C8B-B14F-4D97-AF65-F5344CB8AC3E}">
        <p14:creationId xmlns:p14="http://schemas.microsoft.com/office/powerpoint/2010/main" val="8157781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 Condensed"/>
              <a:buNone/>
            </a:pPr>
            <a:r>
              <a:rPr lang="en-US"/>
              <a:t>Thank You!!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81412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</TotalTime>
  <Words>4024</Words>
  <Application>Microsoft Office PowerPoint</Application>
  <PresentationFormat>Widescreen</PresentationFormat>
  <Paragraphs>548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Courier New</vt:lpstr>
      <vt:lpstr>Noto Sans Symbols</vt:lpstr>
      <vt:lpstr>Roboto Condensed</vt:lpstr>
      <vt:lpstr>1_Office Theme</vt:lpstr>
      <vt:lpstr>2_Office Theme</vt:lpstr>
      <vt:lpstr>Bash Basic</vt:lpstr>
      <vt:lpstr>Contents</vt:lpstr>
      <vt:lpstr>UNIX Basic Command</vt:lpstr>
      <vt:lpstr>UNIX Basic Command</vt:lpstr>
      <vt:lpstr>UNIX Basic Command</vt:lpstr>
      <vt:lpstr>UNIX Basic Command</vt:lpstr>
      <vt:lpstr>UNIX Basic Command</vt:lpstr>
      <vt:lpstr>Regular Expression Basic</vt:lpstr>
      <vt:lpstr>Regular Expression Basic</vt:lpstr>
      <vt:lpstr>Regular Expression Basic</vt:lpstr>
      <vt:lpstr>Regular Expression Basic</vt:lpstr>
      <vt:lpstr>grep command</vt:lpstr>
      <vt:lpstr>grep command</vt:lpstr>
      <vt:lpstr>sed command</vt:lpstr>
      <vt:lpstr>sed command</vt:lpstr>
      <vt:lpstr>sed command</vt:lpstr>
      <vt:lpstr>awk command</vt:lpstr>
      <vt:lpstr>awk command</vt:lpstr>
      <vt:lpstr>awk command</vt:lpstr>
      <vt:lpstr>awk command</vt:lpstr>
      <vt:lpstr>Bash language - Variable</vt:lpstr>
      <vt:lpstr>Bash language - Variable</vt:lpstr>
      <vt:lpstr>Bash language - Variable</vt:lpstr>
      <vt:lpstr>Bash language - Variable</vt:lpstr>
      <vt:lpstr>Bash language - Variable</vt:lpstr>
      <vt:lpstr>Bash language - Variable</vt:lpstr>
      <vt:lpstr>Bash language - Arithmetic</vt:lpstr>
      <vt:lpstr>Bash language - Function</vt:lpstr>
      <vt:lpstr>Bash language - User Input</vt:lpstr>
      <vt:lpstr>Bash language - Flow Control</vt:lpstr>
      <vt:lpstr>Bash language - Loop</vt:lpstr>
      <vt:lpstr>Bash language – Sample Script</vt:lpstr>
      <vt:lpstr>Bash language - Exercise</vt:lpstr>
      <vt:lpstr>Bash language - Exercise</vt:lpstr>
      <vt:lpstr>Documents</vt:lpstr>
      <vt:lpstr>PowerPoint Presentation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Bash Basic</dc:title>
  <dc:creator>Nguyen Trung Hieu</dc:creator>
  <cp:lastModifiedBy>Duong Nguyen Tuan</cp:lastModifiedBy>
  <cp:revision>39</cp:revision>
  <dcterms:created xsi:type="dcterms:W3CDTF">2020-01-03T03:31:54Z</dcterms:created>
  <dcterms:modified xsi:type="dcterms:W3CDTF">2020-04-08T15:57:58Z</dcterms:modified>
</cp:coreProperties>
</file>