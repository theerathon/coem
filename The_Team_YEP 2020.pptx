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Roboto Condensed" panose="020B0604020202020204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70">
          <p15:clr>
            <a:srgbClr val="A4A3A4"/>
          </p15:clr>
        </p15:guide>
        <p15:guide id="2" pos="5345">
          <p15:clr>
            <a:srgbClr val="A4A3A4"/>
          </p15:clr>
        </p15:guide>
        <p15:guide id="3" orient="horz" pos="1656">
          <p15:clr>
            <a:srgbClr val="9AA0A6"/>
          </p15:clr>
        </p15:guide>
        <p15:guide id="4" pos="2132">
          <p15:clr>
            <a:srgbClr val="9AA0A6"/>
          </p15:clr>
        </p15:guide>
        <p15:guide id="5" pos="5550">
          <p15:clr>
            <a:srgbClr val="9AA0A6"/>
          </p15:clr>
        </p15:guide>
        <p15:guide id="6" pos="2880">
          <p15:clr>
            <a:srgbClr val="9AA0A6"/>
          </p15:clr>
        </p15:guide>
        <p15:guide id="7" pos="2736">
          <p15:clr>
            <a:srgbClr val="9AA0A6"/>
          </p15:clr>
        </p15:guide>
        <p15:guide id="8" pos="3024">
          <p15:clr>
            <a:srgbClr val="9AA0A6"/>
          </p15:clr>
        </p15:guide>
        <p15:guide id="9" pos="758">
          <p15:clr>
            <a:srgbClr val="9AA0A6"/>
          </p15:clr>
        </p15:guide>
        <p15:guide id="10" pos="20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65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840" y="138"/>
      </p:cViewPr>
      <p:guideLst>
        <p:guide orient="horz" pos="3070"/>
        <p:guide pos="5345"/>
        <p:guide orient="horz" pos="1656"/>
        <p:guide pos="2132"/>
        <p:guide pos="5550"/>
        <p:guide pos="2880"/>
        <p:guide pos="2736"/>
        <p:guide pos="3024"/>
        <p:guide pos="758"/>
        <p:guide pos="2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51dc637e49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51dc637e49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6398769bd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6398769bda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6c509d32a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6c509d32a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6c509d32a3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6c509d32a3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- one row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477482" y="3674157"/>
            <a:ext cx="5372100" cy="5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Condensed"/>
              <a:buNone/>
              <a:defRPr sz="3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498201" y="4074335"/>
            <a:ext cx="53442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Condensed"/>
              <a:buNone/>
              <a:defRPr sz="17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Condensed"/>
              <a:buNone/>
              <a:defRPr sz="15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- multi row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1611000" y="1025925"/>
            <a:ext cx="5922000" cy="30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Condensed"/>
              <a:buNone/>
              <a:defRPr sz="3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ctrTitle"/>
          </p:nvPr>
        </p:nvSpPr>
        <p:spPr>
          <a:xfrm>
            <a:off x="1387175" y="1800225"/>
            <a:ext cx="6408900" cy="15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and subtitle">
  <p:cSld name="TITLE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ctrTitle"/>
          </p:nvPr>
        </p:nvSpPr>
        <p:spPr>
          <a:xfrm>
            <a:off x="1408200" y="1991175"/>
            <a:ext cx="6327600" cy="741300"/>
          </a:xfrm>
          <a:prstGeom prst="rect">
            <a:avLst/>
          </a:prstGeom>
          <a:noFill/>
          <a:ln>
            <a:noFill/>
          </a:ln>
          <a:effectLst>
            <a:outerShdw blurRad="257175" dist="76200" dir="54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subTitle" idx="1"/>
          </p:nvPr>
        </p:nvSpPr>
        <p:spPr>
          <a:xfrm>
            <a:off x="1408200" y="2656275"/>
            <a:ext cx="6327600" cy="411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7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TITLE_1_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6"/>
          <p:cNvSpPr txBox="1">
            <a:spLocks noGrp="1"/>
          </p:cNvSpPr>
          <p:nvPr>
            <p:ph type="ctrTitle"/>
          </p:nvPr>
        </p:nvSpPr>
        <p:spPr>
          <a:xfrm>
            <a:off x="1263825" y="1309450"/>
            <a:ext cx="6657300" cy="15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[BG]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data">
  <p:cSld name="CUSTOM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TITLE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ctrTitle"/>
          </p:nvPr>
        </p:nvSpPr>
        <p:spPr>
          <a:xfrm>
            <a:off x="1263825" y="1309450"/>
            <a:ext cx="6657300" cy="15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Roboto Condensed"/>
              <a:buNone/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TITLE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ctrTitle"/>
          </p:nvPr>
        </p:nvSpPr>
        <p:spPr>
          <a:xfrm>
            <a:off x="1263825" y="1309450"/>
            <a:ext cx="6657300" cy="15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Roboto Condensed"/>
              <a:buNone/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[no BG]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327454" y="191787"/>
            <a:ext cx="8482800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Condensed"/>
              <a:buNone/>
              <a:defRPr sz="34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327450" y="855925"/>
            <a:ext cx="8482800" cy="3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04800" algn="just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</a:defRPr>
            </a:lvl2pPr>
            <a:lvl3pPr marL="1371600" marR="0" lvl="2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</a:defRPr>
            </a:lvl3pPr>
            <a:lvl4pPr marL="1828800" marR="0" lvl="3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</a:defRPr>
            </a:lvl4pPr>
            <a:lvl5pPr marL="2286000" marR="0" lvl="4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</a:defRPr>
            </a:lvl5pPr>
            <a:lvl6pPr marL="2743200" marR="0" lvl="5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04800" algn="just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[BG]">
  <p:cSld name="OBJEC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>
            <a:spLocks noGrp="1"/>
          </p:cNvSpPr>
          <p:nvPr>
            <p:ph type="title"/>
          </p:nvPr>
        </p:nvSpPr>
        <p:spPr>
          <a:xfrm>
            <a:off x="327454" y="191787"/>
            <a:ext cx="8482800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Condensed"/>
              <a:buNone/>
              <a:defRPr sz="34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body" idx="1"/>
          </p:nvPr>
        </p:nvSpPr>
        <p:spPr>
          <a:xfrm>
            <a:off x="327450" y="855925"/>
            <a:ext cx="8482800" cy="3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 u="none" strike="noStrike" cap="none">
                <a:solidFill>
                  <a:schemeClr val="dk1"/>
                </a:solidFill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 u="none" strike="noStrike" cap="none">
                <a:solidFill>
                  <a:schemeClr val="dk1"/>
                </a:solidFill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 u="none" strike="noStrike" cap="none">
                <a:solidFill>
                  <a:schemeClr val="dk1"/>
                </a:solidFill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Char char="•"/>
              <a:defRPr sz="12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Highlight 1">
  <p:cSld name="OBJECT_1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>
            <a:spLocks noGrp="1"/>
          </p:cNvSpPr>
          <p:nvPr>
            <p:ph type="title"/>
          </p:nvPr>
        </p:nvSpPr>
        <p:spPr>
          <a:xfrm>
            <a:off x="327454" y="191787"/>
            <a:ext cx="8482800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Condensed"/>
              <a:buNone/>
              <a:defRPr sz="34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body" idx="1"/>
          </p:nvPr>
        </p:nvSpPr>
        <p:spPr>
          <a:xfrm>
            <a:off x="327450" y="855925"/>
            <a:ext cx="8482800" cy="3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 u="none" strike="noStrike" cap="none">
                <a:solidFill>
                  <a:schemeClr val="dk1"/>
                </a:solidFill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 u="none" strike="noStrike" cap="none">
                <a:solidFill>
                  <a:schemeClr val="dk1"/>
                </a:solidFill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i="0" u="none" strike="noStrike" cap="none">
                <a:solidFill>
                  <a:schemeClr val="dk1"/>
                </a:solidFill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Char char="•"/>
              <a:defRPr sz="12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4"/>
          <p:cNvSpPr/>
          <p:nvPr/>
        </p:nvSpPr>
        <p:spPr>
          <a:xfrm>
            <a:off x="405150" y="0"/>
            <a:ext cx="796500" cy="75600"/>
          </a:xfrm>
          <a:prstGeom prst="rect">
            <a:avLst/>
          </a:prstGeom>
          <a:solidFill>
            <a:srgbClr val="EFC4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Highlight 2">
  <p:cSld name="OBJECT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327454" y="191787"/>
            <a:ext cx="8482800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Condensed"/>
              <a:buNone/>
              <a:defRPr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1"/>
          </p:nvPr>
        </p:nvSpPr>
        <p:spPr>
          <a:xfrm>
            <a:off x="327450" y="855925"/>
            <a:ext cx="8482800" cy="3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i="0" u="none" strike="noStrike" cap="none">
                <a:solidFill>
                  <a:schemeClr val="dk1"/>
                </a:solidFill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i="0" u="none" strike="noStrike" cap="none">
                <a:solidFill>
                  <a:schemeClr val="dk1"/>
                </a:solidFill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i="0" u="none" strike="noStrike" cap="none">
                <a:solidFill>
                  <a:schemeClr val="dk1"/>
                </a:solidFill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i="0" u="none" strike="noStrike" cap="none">
                <a:solidFill>
                  <a:schemeClr val="dk1"/>
                </a:solidFill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Char char="•"/>
              <a:defRPr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15"/>
          <p:cNvSpPr/>
          <p:nvPr/>
        </p:nvSpPr>
        <p:spPr>
          <a:xfrm rot="5400000">
            <a:off x="-219750" y="487575"/>
            <a:ext cx="515100" cy="75600"/>
          </a:xfrm>
          <a:prstGeom prst="rect">
            <a:avLst/>
          </a:prstGeom>
          <a:solidFill>
            <a:srgbClr val="EFC4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[BG]" type="twoObj">
  <p:cSld name="TWO_OBJEC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327454" y="191787"/>
            <a:ext cx="8482800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Condensed"/>
              <a:buNone/>
              <a:defRPr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327450" y="856075"/>
            <a:ext cx="4148700" cy="39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04800" algn="just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04800" algn="just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4729900" y="856075"/>
            <a:ext cx="4148700" cy="39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04800" algn="just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04800" algn="just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[no BG]">
  <p:cSld name="TWO_OBJECTS_3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>
            <a:spLocks noGrp="1"/>
          </p:cNvSpPr>
          <p:nvPr>
            <p:ph type="title"/>
          </p:nvPr>
        </p:nvSpPr>
        <p:spPr>
          <a:xfrm>
            <a:off x="327454" y="191787"/>
            <a:ext cx="8482800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Condensed"/>
              <a:buNone/>
              <a:defRPr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body" idx="1"/>
          </p:nvPr>
        </p:nvSpPr>
        <p:spPr>
          <a:xfrm>
            <a:off x="327450" y="869825"/>
            <a:ext cx="4148700" cy="39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04800" algn="just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04800" algn="just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body" idx="2"/>
          </p:nvPr>
        </p:nvSpPr>
        <p:spPr>
          <a:xfrm>
            <a:off x="4729900" y="869825"/>
            <a:ext cx="4148700" cy="39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04800" algn="just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04800" algn="just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">
  <p:cSld name="TWO_OBJECTS_3_2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"/>
          <p:cNvSpPr txBox="1">
            <a:spLocks noGrp="1"/>
          </p:cNvSpPr>
          <p:nvPr>
            <p:ph type="title"/>
          </p:nvPr>
        </p:nvSpPr>
        <p:spPr>
          <a:xfrm>
            <a:off x="327454" y="191787"/>
            <a:ext cx="8482800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Condensed"/>
              <a:buNone/>
              <a:defRPr sz="34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body" idx="1"/>
          </p:nvPr>
        </p:nvSpPr>
        <p:spPr>
          <a:xfrm>
            <a:off x="327450" y="869800"/>
            <a:ext cx="2666700" cy="39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04800" algn="just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11150" algn="just" rtl="0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dk1"/>
              </a:buClr>
              <a:buSzPts val="1300"/>
              <a:buFont typeface="Roboto Condensed"/>
              <a:buChar char="•"/>
              <a:defRPr sz="13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body" idx="2"/>
          </p:nvPr>
        </p:nvSpPr>
        <p:spPr>
          <a:xfrm>
            <a:off x="6211900" y="869800"/>
            <a:ext cx="2666700" cy="39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048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11150" algn="just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300"/>
              <a:buFont typeface="Roboto Condensed"/>
              <a:buChar char="•"/>
              <a:defRPr sz="13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body" idx="3"/>
          </p:nvPr>
        </p:nvSpPr>
        <p:spPr>
          <a:xfrm>
            <a:off x="3248175" y="863750"/>
            <a:ext cx="2711100" cy="3804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04800">
              <a:spcBef>
                <a:spcPts val="7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04800"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5pPr>
            <a:lvl6pPr marL="2743200" lvl="5" indent="-304800"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7pPr>
            <a:lvl8pPr marL="3657600" lvl="7" indent="-304800"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>
              <a:spcBef>
                <a:spcPts val="500"/>
              </a:spcBef>
              <a:spcAft>
                <a:spcPts val="50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with subtitle">
  <p:cSld name="TWO_OBJECTS_3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>
            <a:spLocks noGrp="1"/>
          </p:cNvSpPr>
          <p:nvPr>
            <p:ph type="title"/>
          </p:nvPr>
        </p:nvSpPr>
        <p:spPr>
          <a:xfrm>
            <a:off x="327454" y="191787"/>
            <a:ext cx="8482800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Condensed"/>
              <a:buNone/>
              <a:defRPr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body" idx="1"/>
          </p:nvPr>
        </p:nvSpPr>
        <p:spPr>
          <a:xfrm>
            <a:off x="327450" y="945375"/>
            <a:ext cx="41487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 u="none" strike="noStrike" cap="none">
                <a:solidFill>
                  <a:schemeClr val="dk1"/>
                </a:solidFill>
              </a:defRPr>
            </a:lvl1pPr>
            <a:lvl2pPr marL="914400" marR="0" lvl="1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 i="0" u="none" strike="noStrike" cap="none">
                <a:solidFill>
                  <a:schemeClr val="dk1"/>
                </a:solidFill>
              </a:defRPr>
            </a:lvl2pPr>
            <a:lvl3pPr marL="1371600" marR="0" lvl="2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 i="0" u="none" strike="noStrike" cap="none">
                <a:solidFill>
                  <a:schemeClr val="dk1"/>
                </a:solidFill>
              </a:defRPr>
            </a:lvl3pPr>
            <a:lvl4pPr marL="1828800" marR="0" lvl="3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 i="0" u="none" strike="noStrike" cap="none">
                <a:solidFill>
                  <a:schemeClr val="dk1"/>
                </a:solidFill>
              </a:defRPr>
            </a:lvl4pPr>
            <a:lvl5pPr marL="2286000" marR="0" lvl="4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 i="0" u="none" strike="noStrike" cap="none">
                <a:solidFill>
                  <a:schemeClr val="dk1"/>
                </a:solidFill>
              </a:defRPr>
            </a:lvl5pPr>
            <a:lvl6pPr marL="2743200" marR="0" lvl="5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 i="0" u="none" strike="noStrike" cap="none">
                <a:solidFill>
                  <a:schemeClr val="dk1"/>
                </a:solidFill>
              </a:defRPr>
            </a:lvl6pPr>
            <a:lvl7pPr marL="3200400" marR="0" lvl="6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 i="0" u="none" strike="noStrike" cap="none">
                <a:solidFill>
                  <a:schemeClr val="dk1"/>
                </a:solidFill>
              </a:defRPr>
            </a:lvl7pPr>
            <a:lvl8pPr marL="3657600" marR="0" lvl="7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 i="0" u="none" strike="noStrike" cap="none">
                <a:solidFill>
                  <a:schemeClr val="dk1"/>
                </a:solidFill>
              </a:defRPr>
            </a:lvl8pPr>
            <a:lvl9pPr marL="4114800" marR="0" lvl="8" indent="-342900" algn="just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•"/>
              <a:defRPr sz="1800" b="1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2"/>
          </p:nvPr>
        </p:nvSpPr>
        <p:spPr>
          <a:xfrm>
            <a:off x="4729900" y="945375"/>
            <a:ext cx="40803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Condensed"/>
              <a:buNone/>
              <a:defRPr sz="16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Condensed"/>
              <a:buChar char="•"/>
              <a:defRPr sz="18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429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Condensed"/>
              <a:buChar char="•"/>
              <a:defRPr sz="18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429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Condensed"/>
              <a:buChar char="•"/>
              <a:defRPr sz="18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429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Condensed"/>
              <a:buChar char="•"/>
              <a:defRPr sz="18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429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Condensed"/>
              <a:buChar char="•"/>
              <a:defRPr sz="18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429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Condensed"/>
              <a:buChar char="•"/>
              <a:defRPr sz="18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429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Condensed"/>
              <a:buChar char="•"/>
              <a:defRPr sz="18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42900" algn="just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800"/>
              <a:buFont typeface="Roboto Condensed"/>
              <a:buChar char="•"/>
              <a:defRPr sz="18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3"/>
          </p:nvPr>
        </p:nvSpPr>
        <p:spPr>
          <a:xfrm>
            <a:off x="327450" y="1304775"/>
            <a:ext cx="4148700" cy="3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04800" algn="just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4"/>
          </p:nvPr>
        </p:nvSpPr>
        <p:spPr>
          <a:xfrm>
            <a:off x="4729900" y="1304775"/>
            <a:ext cx="4080300" cy="3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04800" algn="just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- Right">
  <p:cSld name="TWO_OBJECTS_2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0"/>
          <p:cNvSpPr txBox="1">
            <a:spLocks noGrp="1"/>
          </p:cNvSpPr>
          <p:nvPr>
            <p:ph type="title"/>
          </p:nvPr>
        </p:nvSpPr>
        <p:spPr>
          <a:xfrm>
            <a:off x="327454" y="191787"/>
            <a:ext cx="8482800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Condensed"/>
              <a:buNone/>
              <a:defRPr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4729900" y="861175"/>
            <a:ext cx="4148700" cy="39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- Left">
  <p:cSld name="TWO_OBJECTS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327454" y="191787"/>
            <a:ext cx="8482800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Condensed"/>
              <a:buNone/>
              <a:defRPr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body" idx="1"/>
          </p:nvPr>
        </p:nvSpPr>
        <p:spPr>
          <a:xfrm>
            <a:off x="327450" y="856075"/>
            <a:ext cx="4148700" cy="39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TWO_OBJECTS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2"/>
          <p:cNvSpPr txBox="1">
            <a:spLocks noGrp="1"/>
          </p:cNvSpPr>
          <p:nvPr>
            <p:ph type="title"/>
          </p:nvPr>
        </p:nvSpPr>
        <p:spPr>
          <a:xfrm>
            <a:off x="529050" y="765700"/>
            <a:ext cx="4026600" cy="16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Condensed"/>
              <a:buNone/>
              <a:defRPr sz="2800" b="1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body" idx="1"/>
          </p:nvPr>
        </p:nvSpPr>
        <p:spPr>
          <a:xfrm>
            <a:off x="529050" y="2536925"/>
            <a:ext cx="4026600" cy="15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Condensed"/>
              <a:buNone/>
              <a:defRPr sz="110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29845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Condensed"/>
              <a:buChar char="•"/>
              <a:defRPr sz="110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29845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Condensed"/>
              <a:buChar char="•"/>
              <a:defRPr sz="110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29845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Condensed"/>
              <a:buChar char="•"/>
              <a:defRPr sz="110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29845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Condensed"/>
              <a:buChar char="•"/>
              <a:defRPr sz="110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29845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Condensed"/>
              <a:buChar char="•"/>
              <a:defRPr sz="110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29845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Condensed"/>
              <a:buChar char="•"/>
              <a:defRPr sz="110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298450" algn="ctr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Condensed"/>
              <a:buChar char="•"/>
              <a:defRPr sz="110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298450" algn="ctr" rtl="0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100"/>
              <a:buFont typeface="Roboto Condensed"/>
              <a:buChar char="•"/>
              <a:defRPr sz="110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body" idx="2"/>
          </p:nvPr>
        </p:nvSpPr>
        <p:spPr>
          <a:xfrm>
            <a:off x="5493725" y="720100"/>
            <a:ext cx="3243000" cy="34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●"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0480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"/>
              <a:buChar char="○"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0480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"/>
              <a:buChar char="■"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0480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"/>
              <a:buChar char="●"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0480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"/>
              <a:buChar char="○"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0480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"/>
              <a:buChar char="■"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0480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"/>
              <a:buChar char="●"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0480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"/>
              <a:buChar char="○"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04800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1200"/>
              <a:buFont typeface="Roboto Condensed"/>
              <a:buChar char="■"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with subtitle and description ">
  <p:cSld name="TWO_OBJECTS_1_1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>
            <a:off x="529050" y="765700"/>
            <a:ext cx="4026600" cy="34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Condensed"/>
              <a:buNone/>
              <a:defRPr sz="2800" b="1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>
            <a:off x="5493725" y="720100"/>
            <a:ext cx="3243000" cy="34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●"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04800" algn="just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"/>
              <a:buChar char="○"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04800" algn="just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"/>
              <a:buChar char="■"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04800" algn="just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"/>
              <a:buChar char="●"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04800" algn="just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"/>
              <a:buChar char="○"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04800" algn="just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"/>
              <a:buChar char="■"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04800" algn="just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"/>
              <a:buChar char="●"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04800" algn="just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"/>
              <a:buChar char="○"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04800" algn="just" rtl="0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1200"/>
              <a:buFont typeface="Roboto Condensed"/>
              <a:buChar char="■"/>
              <a:defRPr sz="12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[no BG]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4"/>
          <p:cNvSpPr txBox="1">
            <a:spLocks noGrp="1"/>
          </p:cNvSpPr>
          <p:nvPr>
            <p:ph type="title"/>
          </p:nvPr>
        </p:nvSpPr>
        <p:spPr>
          <a:xfrm>
            <a:off x="327454" y="191787"/>
            <a:ext cx="8482800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ffice Locations">
  <p:cSld name="TITLE_ONL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>
            <a:off x="327454" y="191787"/>
            <a:ext cx="8482800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25"/>
          <p:cNvSpPr txBox="1"/>
          <p:nvPr/>
        </p:nvSpPr>
        <p:spPr>
          <a:xfrm>
            <a:off x="1569725" y="1619450"/>
            <a:ext cx="16092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Tiger Rock Technology</a:t>
            </a:r>
            <a:endParaRPr sz="1200" b="1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2" name="Google Shape;82;p25"/>
          <p:cNvSpPr txBox="1"/>
          <p:nvPr/>
        </p:nvSpPr>
        <p:spPr>
          <a:xfrm>
            <a:off x="1569725" y="1868138"/>
            <a:ext cx="25689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3012 Lakewood Pointe Drive, Orlando, FL 32817, USA</a:t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3" name="Google Shape;83;p25"/>
          <p:cNvSpPr txBox="1"/>
          <p:nvPr/>
        </p:nvSpPr>
        <p:spPr>
          <a:xfrm>
            <a:off x="5432800" y="1838738"/>
            <a:ext cx="16092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Roboto Condensed"/>
                <a:ea typeface="Roboto Condensed"/>
                <a:cs typeface="Roboto Condensed"/>
                <a:sym typeface="Roboto Condensed"/>
              </a:rPr>
              <a:t>Ban Vien Company</a:t>
            </a:r>
            <a:endParaRPr sz="12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4" name="Google Shape;84;p25"/>
          <p:cNvSpPr txBox="1"/>
          <p:nvPr/>
        </p:nvSpPr>
        <p:spPr>
          <a:xfrm>
            <a:off x="5432800" y="2087425"/>
            <a:ext cx="28776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oboto Condensed"/>
                <a:ea typeface="Roboto Condensed"/>
                <a:cs typeface="Roboto Condensed"/>
                <a:sym typeface="Roboto Condensed"/>
              </a:rPr>
              <a:t>Copac Square Building, 12 Ton Dan St., Dist 4., HCMC, VN</a:t>
            </a:r>
            <a:endParaRPr sz="90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5" name="Google Shape;85;p25"/>
          <p:cNvSpPr txBox="1"/>
          <p:nvPr/>
        </p:nvSpPr>
        <p:spPr>
          <a:xfrm>
            <a:off x="5432800" y="2314100"/>
            <a:ext cx="14613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Roboto Condensed"/>
                <a:ea typeface="Roboto Condensed"/>
                <a:cs typeface="Roboto Condensed"/>
                <a:sym typeface="Roboto Condensed"/>
              </a:rPr>
              <a:t>(+84) 28 6261 5857</a:t>
            </a:r>
            <a:endParaRPr sz="10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6" name="Google Shape;86;p25"/>
          <p:cNvSpPr txBox="1"/>
          <p:nvPr/>
        </p:nvSpPr>
        <p:spPr>
          <a:xfrm>
            <a:off x="5587150" y="3439825"/>
            <a:ext cx="16092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e-Future Technology</a:t>
            </a:r>
            <a:endParaRPr sz="1200" b="1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7" name="Google Shape;87;p25"/>
          <p:cNvSpPr txBox="1"/>
          <p:nvPr/>
        </p:nvSpPr>
        <p:spPr>
          <a:xfrm>
            <a:off x="5587150" y="3688513"/>
            <a:ext cx="25689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16 Kallang Place, #07-01/02/03, Singapore 339156</a:t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end">
  <p:cSld name="Thank You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6"/>
          <p:cNvSpPr txBox="1">
            <a:spLocks noGrp="1"/>
          </p:cNvSpPr>
          <p:nvPr>
            <p:ph type="title"/>
          </p:nvPr>
        </p:nvSpPr>
        <p:spPr>
          <a:xfrm>
            <a:off x="279575" y="2128825"/>
            <a:ext cx="8584800" cy="15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 Condensed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[BG]">
  <p:cSld name="Title Only [BG]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7"/>
          <p:cNvSpPr txBox="1">
            <a:spLocks noGrp="1"/>
          </p:cNvSpPr>
          <p:nvPr>
            <p:ph type="title"/>
          </p:nvPr>
        </p:nvSpPr>
        <p:spPr>
          <a:xfrm>
            <a:off x="327454" y="191787"/>
            <a:ext cx="8482800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[no BG]">
  <p:cSld name="Title Only [BG]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27454" y="191787"/>
            <a:ext cx="8482800" cy="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Condensed"/>
              <a:buNone/>
              <a:defRPr sz="34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27450" y="855925"/>
            <a:ext cx="8482800" cy="3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04800" algn="just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0480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04800" algn="just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Roboto Condensed"/>
              <a:buChar char="•"/>
              <a:defRPr sz="12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9"/>
          <p:cNvSpPr txBox="1">
            <a:spLocks noGrp="1"/>
          </p:cNvSpPr>
          <p:nvPr>
            <p:ph type="ctrTitle"/>
          </p:nvPr>
        </p:nvSpPr>
        <p:spPr>
          <a:xfrm>
            <a:off x="3477482" y="3674157"/>
            <a:ext cx="5372100" cy="5289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 Department_YEP 2020</a:t>
            </a:r>
            <a:endParaRPr dirty="0"/>
          </a:p>
        </p:txBody>
      </p:sp>
      <p:sp>
        <p:nvSpPr>
          <p:cNvPr id="99" name="Google Shape;99;p29"/>
          <p:cNvSpPr txBox="1">
            <a:spLocks noGrp="1"/>
          </p:cNvSpPr>
          <p:nvPr>
            <p:ph type="subTitle" idx="1"/>
          </p:nvPr>
        </p:nvSpPr>
        <p:spPr>
          <a:xfrm>
            <a:off x="3498201" y="4074335"/>
            <a:ext cx="5344200" cy="3381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dirty="0"/>
              <a:t>Best Team Award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0"/>
          <p:cNvSpPr txBox="1">
            <a:spLocks noGrp="1"/>
          </p:cNvSpPr>
          <p:nvPr>
            <p:ph type="title"/>
          </p:nvPr>
        </p:nvSpPr>
        <p:spPr>
          <a:xfrm>
            <a:off x="327454" y="191787"/>
            <a:ext cx="8482800" cy="628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 Overview</a:t>
            </a:r>
            <a:endParaRPr dirty="0"/>
          </a:p>
        </p:txBody>
      </p:sp>
      <p:sp>
        <p:nvSpPr>
          <p:cNvPr id="105" name="Google Shape;105;p30"/>
          <p:cNvSpPr txBox="1">
            <a:spLocks noGrp="1"/>
          </p:cNvSpPr>
          <p:nvPr>
            <p:ph type="body" idx="1"/>
          </p:nvPr>
        </p:nvSpPr>
        <p:spPr>
          <a:xfrm>
            <a:off x="327450" y="855925"/>
            <a:ext cx="8482800" cy="3893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dirty="0"/>
              <a:t>Some introduction about your team: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" dirty="0"/>
              <a:t>ASA(</a:t>
            </a:r>
            <a:r>
              <a:rPr lang="en-US" dirty="0"/>
              <a:t>Active Safety Automotive): Implementation test suite for ASW (Application software) and PSW(Platform software).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Having 2 team side is COEM(China), JOEM(Japan):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Ø"/>
            </a:pPr>
            <a:r>
              <a:rPr lang="en-US" dirty="0"/>
              <a:t>COEM team: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Tuấn</a:t>
            </a:r>
            <a:r>
              <a:rPr lang="en-US" dirty="0"/>
              <a:t> </a:t>
            </a:r>
            <a:r>
              <a:rPr lang="en-US" dirty="0" err="1"/>
              <a:t>Dương</a:t>
            </a:r>
            <a:r>
              <a:rPr lang="en-US" dirty="0"/>
              <a:t> (Leader)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n-US" dirty="0" err="1"/>
              <a:t>Đỗ</a:t>
            </a:r>
            <a:r>
              <a:rPr lang="en-US" dirty="0"/>
              <a:t> </a:t>
            </a:r>
            <a:r>
              <a:rPr lang="en-US" dirty="0" err="1"/>
              <a:t>Phú</a:t>
            </a:r>
            <a:r>
              <a:rPr lang="en-US" dirty="0"/>
              <a:t> </a:t>
            </a:r>
            <a:r>
              <a:rPr lang="en-US" dirty="0" err="1"/>
              <a:t>Lộc</a:t>
            </a:r>
            <a:endParaRPr lang="en-US" dirty="0"/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n-US" dirty="0"/>
              <a:t>Phan </a:t>
            </a:r>
            <a:r>
              <a:rPr lang="en-US" dirty="0" err="1"/>
              <a:t>Thế</a:t>
            </a:r>
            <a:r>
              <a:rPr lang="en-US" dirty="0"/>
              <a:t> Nam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n-US" dirty="0" err="1"/>
              <a:t>Nguyễn</a:t>
            </a:r>
            <a:r>
              <a:rPr lang="en-US" dirty="0"/>
              <a:t> Minh </a:t>
            </a:r>
            <a:r>
              <a:rPr lang="en-US" dirty="0" err="1"/>
              <a:t>Chương</a:t>
            </a:r>
            <a:endParaRPr lang="en-US" dirty="0"/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Trần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 </a:t>
            </a:r>
            <a:r>
              <a:rPr lang="en-US" dirty="0" err="1"/>
              <a:t>Huy</a:t>
            </a:r>
            <a:endParaRPr lang="en-US" dirty="0"/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dirty="0"/>
              <a:t>Add 3-5 images of your team</a:t>
            </a:r>
            <a:endParaRPr dirty="0"/>
          </a:p>
          <a:p>
            <a:pPr marL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700"/>
              </a:spcBef>
              <a:spcAft>
                <a:spcPts val="700"/>
              </a:spcAft>
              <a:buNone/>
            </a:pPr>
            <a:endParaRPr dirty="0"/>
          </a:p>
        </p:txBody>
      </p:sp>
      <p:sp>
        <p:nvSpPr>
          <p:cNvPr id="4" name="Google Shape;104;p30">
            <a:extLst>
              <a:ext uri="{FF2B5EF4-FFF2-40B4-BE49-F238E27FC236}">
                <a16:creationId xmlns:a16="http://schemas.microsoft.com/office/drawing/2014/main" id="{E75C48C7-8A96-4527-850E-60E802155E96}"/>
              </a:ext>
            </a:extLst>
          </p:cNvPr>
          <p:cNvSpPr txBox="1">
            <a:spLocks/>
          </p:cNvSpPr>
          <p:nvPr/>
        </p:nvSpPr>
        <p:spPr>
          <a:xfrm>
            <a:off x="4437705" y="1941611"/>
            <a:ext cx="8482800" cy="1260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Condensed"/>
              <a:buNone/>
              <a:defRPr sz="34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25450" indent="-285750">
              <a:lnSpc>
                <a:spcPct val="115000"/>
              </a:lnSpc>
              <a:buSzPts val="1400"/>
              <a:buFont typeface="Wingdings" panose="05000000000000000000" pitchFamily="2" charset="2"/>
              <a:buChar char="Ø"/>
            </a:pPr>
            <a:r>
              <a:rPr lang="en-US" sz="1400" b="0" dirty="0"/>
              <a:t>JOEM team:</a:t>
            </a:r>
          </a:p>
          <a:p>
            <a:pPr marL="425450" indent="-285750">
              <a:lnSpc>
                <a:spcPct val="115000"/>
              </a:lnSpc>
              <a:buSzPts val="1400"/>
              <a:buFont typeface="Wingdings" panose="05000000000000000000" pitchFamily="2" charset="2"/>
              <a:buChar char="§"/>
            </a:pPr>
            <a:r>
              <a:rPr lang="en-US" sz="1400" b="0" dirty="0" err="1"/>
              <a:t>Nguyễn</a:t>
            </a:r>
            <a:r>
              <a:rPr lang="en-US" sz="1400" b="0" dirty="0"/>
              <a:t> </a:t>
            </a:r>
            <a:r>
              <a:rPr lang="en-US" sz="1400" b="0" dirty="0" err="1"/>
              <a:t>Tài</a:t>
            </a:r>
            <a:r>
              <a:rPr lang="en-US" sz="1400" b="0" dirty="0"/>
              <a:t> </a:t>
            </a:r>
            <a:r>
              <a:rPr lang="en-US" sz="1400" b="0" dirty="0" err="1"/>
              <a:t>Hậu</a:t>
            </a:r>
            <a:r>
              <a:rPr lang="en-US" sz="1400" b="0" dirty="0"/>
              <a:t> (Sub-leader)</a:t>
            </a:r>
          </a:p>
          <a:p>
            <a:pPr marL="425450" indent="-285750">
              <a:lnSpc>
                <a:spcPct val="115000"/>
              </a:lnSpc>
              <a:buSzPts val="1400"/>
              <a:buFont typeface="Wingdings" panose="05000000000000000000" pitchFamily="2" charset="2"/>
              <a:buChar char="§"/>
            </a:pPr>
            <a:r>
              <a:rPr lang="en-US" sz="1400" b="0" dirty="0" err="1"/>
              <a:t>Lý</a:t>
            </a:r>
            <a:r>
              <a:rPr lang="en-US" sz="1400" b="0" dirty="0"/>
              <a:t> Chung</a:t>
            </a:r>
          </a:p>
          <a:p>
            <a:pPr marL="425450" indent="-285750">
              <a:lnSpc>
                <a:spcPct val="115000"/>
              </a:lnSpc>
              <a:buSzPts val="1400"/>
              <a:buFont typeface="Wingdings" panose="05000000000000000000" pitchFamily="2" charset="2"/>
              <a:buChar char="§"/>
            </a:pPr>
            <a:r>
              <a:rPr lang="en-US" sz="1400" b="0" dirty="0" err="1"/>
              <a:t>Đỗ</a:t>
            </a:r>
            <a:r>
              <a:rPr lang="en-US" sz="1400" b="0" dirty="0"/>
              <a:t> Anh </a:t>
            </a:r>
            <a:r>
              <a:rPr lang="en-US" sz="1400" b="0" dirty="0" err="1"/>
              <a:t>Huy</a:t>
            </a:r>
            <a:endParaRPr lang="en-US" sz="1400" b="0" dirty="0"/>
          </a:p>
          <a:p>
            <a:pPr marL="425450" indent="-285750">
              <a:lnSpc>
                <a:spcPct val="115000"/>
              </a:lnSpc>
              <a:buSzPts val="1400"/>
              <a:buFont typeface="Wingdings" panose="05000000000000000000" pitchFamily="2" charset="2"/>
              <a:buChar char="§"/>
            </a:pPr>
            <a:r>
              <a:rPr lang="en-US" sz="1400" b="0" dirty="0" err="1"/>
              <a:t>Dương</a:t>
            </a:r>
            <a:r>
              <a:rPr lang="en-US" sz="1400" b="0" dirty="0"/>
              <a:t> </a:t>
            </a:r>
            <a:r>
              <a:rPr lang="en-US" sz="1400" b="0" dirty="0" err="1"/>
              <a:t>Chí</a:t>
            </a:r>
            <a:r>
              <a:rPr lang="en-US" sz="1400" b="0" dirty="0"/>
              <a:t> </a:t>
            </a:r>
            <a:r>
              <a:rPr lang="en-US" sz="1400" b="0" dirty="0" err="1"/>
              <a:t>Khang</a:t>
            </a:r>
            <a:endParaRPr lang="en-US" sz="1400" b="0" dirty="0"/>
          </a:p>
          <a:p>
            <a:pPr marL="425450" indent="-285750">
              <a:lnSpc>
                <a:spcPct val="115000"/>
              </a:lnSpc>
              <a:buSzPts val="1400"/>
              <a:buFont typeface="Wingdings" panose="05000000000000000000" pitchFamily="2" charset="2"/>
              <a:buChar char="§"/>
            </a:pPr>
            <a:r>
              <a:rPr lang="en-US" sz="1400" b="0" dirty="0" err="1"/>
              <a:t>Tăng</a:t>
            </a:r>
            <a:r>
              <a:rPr lang="en-US" sz="1400" b="0" dirty="0"/>
              <a:t> Quang </a:t>
            </a:r>
            <a:r>
              <a:rPr lang="en-US" sz="1400" b="0" dirty="0" err="1"/>
              <a:t>Huy</a:t>
            </a:r>
            <a:endParaRPr lang="en-US" sz="1400" b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1"/>
          <p:cNvSpPr txBox="1">
            <a:spLocks noGrp="1"/>
          </p:cNvSpPr>
          <p:nvPr>
            <p:ph type="title"/>
          </p:nvPr>
        </p:nvSpPr>
        <p:spPr>
          <a:xfrm>
            <a:off x="327454" y="191787"/>
            <a:ext cx="8482800" cy="628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dirty="0"/>
              <a:t>ACHIEVEMENTS </a:t>
            </a:r>
            <a:r>
              <a:rPr lang="en" dirty="0" smtClean="0"/>
              <a:t>OF </a:t>
            </a:r>
            <a:r>
              <a:rPr lang="en" dirty="0"/>
              <a:t>TEAM</a:t>
            </a:r>
            <a:endParaRPr dirty="0"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1"/>
          </p:nvPr>
        </p:nvSpPr>
        <p:spPr>
          <a:xfrm>
            <a:off x="327450" y="855924"/>
            <a:ext cx="8482800" cy="4069643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dirty="0"/>
              <a:t>The success stories of your team: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Ø"/>
            </a:pPr>
            <a:r>
              <a:rPr lang="en-US" dirty="0"/>
              <a:t>Average KPI of team as of Dec-2020: %</a:t>
            </a:r>
          </a:p>
          <a:p>
            <a:pPr marL="425450" indent="-285750">
              <a:buFont typeface="Wingdings" panose="05000000000000000000" pitchFamily="2" charset="2"/>
              <a:buChar char="Ø"/>
            </a:pPr>
            <a:r>
              <a:rPr lang="en-US" dirty="0"/>
              <a:t>Average OTD (on time delivery) of team as of Dec-2020: %</a:t>
            </a:r>
          </a:p>
          <a:p>
            <a:pPr marL="425450" indent="-285750">
              <a:buFont typeface="Wingdings" panose="05000000000000000000" pitchFamily="2" charset="2"/>
              <a:buChar char="Ø"/>
            </a:pPr>
            <a:r>
              <a:rPr lang="en-US" dirty="0"/>
              <a:t>Num of defects found of team as of Dec-2020: </a:t>
            </a:r>
            <a:r>
              <a:rPr lang="en-US" dirty="0" smtClean="0"/>
              <a:t>80 defects</a:t>
            </a:r>
            <a:endParaRPr lang="en-US" dirty="0"/>
          </a:p>
          <a:p>
            <a:pPr marL="4254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Re-sign the contract with higher KPI for 2 team side: COEM and JOEM team.</a:t>
            </a:r>
            <a:endParaRPr lang="en-US" dirty="0"/>
          </a:p>
          <a:p>
            <a:pPr marL="425450" indent="-285750">
              <a:buFont typeface="Wingdings" panose="05000000000000000000" pitchFamily="2" charset="2"/>
              <a:buChar char="Ø"/>
            </a:pPr>
            <a:r>
              <a:rPr lang="en-US" dirty="0"/>
              <a:t>Passed ASPICE Level 2 standard with audit project China Mainstream (implement together with internal Bosch</a:t>
            </a:r>
            <a:r>
              <a:rPr lang="en-US" dirty="0" smtClean="0"/>
              <a:t>) when join meeting to discuss directly with customer from China.</a:t>
            </a:r>
            <a:endParaRPr lang="en-US" dirty="0"/>
          </a:p>
          <a:p>
            <a:pPr marL="139700" indent="0"/>
            <a:r>
              <a:rPr lang="en-US" dirty="0"/>
              <a:t>(BV ASA team was chosen to support the implementation of this project instead of other competitors).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</a:pPr>
            <a:endParaRPr lang="en-US" dirty="0"/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</a:pPr>
            <a:endParaRPr lang="en" dirty="0"/>
          </a:p>
          <a:p>
            <a:pPr marL="139700" indent="0"/>
            <a:r>
              <a:rPr lang="en" dirty="0"/>
              <a:t>2.    The strengthens of team: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v"/>
            </a:pPr>
            <a:r>
              <a:rPr lang="en-US" dirty="0"/>
              <a:t>Always willing to support urgent case/task/project request by the customer and release on time with the deadline as expected.</a:t>
            </a:r>
          </a:p>
          <a:p>
            <a:pPr marL="425450" indent="-285750">
              <a:buFont typeface="Wingdings" panose="05000000000000000000" pitchFamily="2" charset="2"/>
              <a:buChar char="v"/>
            </a:pPr>
            <a:r>
              <a:rPr lang="en-US" dirty="0"/>
              <a:t>Each team member always helps together whenever any member has difficulty/issues to getting the task done on time.</a:t>
            </a:r>
          </a:p>
          <a:p>
            <a:pPr marL="425450" indent="-285750">
              <a:buFont typeface="Wingdings" panose="05000000000000000000" pitchFamily="2" charset="2"/>
              <a:buChar char="v"/>
            </a:pPr>
            <a:r>
              <a:rPr lang="en-US" dirty="0"/>
              <a:t>The team almost completed the task exceeding the KPI and delivery on time monthly.</a:t>
            </a:r>
          </a:p>
        </p:txBody>
      </p:sp>
      <p:sp>
        <p:nvSpPr>
          <p:cNvPr id="8" name="Google Shape;84;p14">
            <a:extLst>
              <a:ext uri="{FF2B5EF4-FFF2-40B4-BE49-F238E27FC236}">
                <a16:creationId xmlns:a16="http://schemas.microsoft.com/office/drawing/2014/main" id="{F8EE8535-781D-4D22-8520-62C0B4B4E017}"/>
              </a:ext>
            </a:extLst>
          </p:cNvPr>
          <p:cNvSpPr txBox="1"/>
          <p:nvPr/>
        </p:nvSpPr>
        <p:spPr>
          <a:xfrm>
            <a:off x="3394168" y="2945989"/>
            <a:ext cx="109837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 dirty="0">
                <a:solidFill>
                  <a:srgbClr val="FF33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Level 2 </a:t>
            </a:r>
            <a:r>
              <a:rPr lang="en-US" sz="1100" b="1" i="1" dirty="0">
                <a:solidFill>
                  <a:srgbClr val="FF33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Passed</a:t>
            </a:r>
            <a:endParaRPr dirty="0"/>
          </a:p>
        </p:txBody>
      </p:sp>
      <p:pic>
        <p:nvPicPr>
          <p:cNvPr id="9" name="Google Shape;76;p14" descr="Image result for automotive spice logo">
            <a:extLst>
              <a:ext uri="{FF2B5EF4-FFF2-40B4-BE49-F238E27FC236}">
                <a16:creationId xmlns:a16="http://schemas.microsoft.com/office/drawing/2014/main" id="{740AB7CA-44F2-4908-9D8B-88260D028B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153" y="2883561"/>
            <a:ext cx="2840015" cy="386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327454" y="191787"/>
            <a:ext cx="8482800" cy="628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/>
              <a:t>Employee of the year</a:t>
            </a:r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1"/>
          </p:nvPr>
        </p:nvSpPr>
        <p:spPr>
          <a:xfrm>
            <a:off x="327450" y="855925"/>
            <a:ext cx="8482800" cy="3893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17500" algn="l" rtl="0">
              <a:spcBef>
                <a:spcPts val="700"/>
              </a:spcBef>
              <a:spcAft>
                <a:spcPts val="0"/>
              </a:spcAft>
              <a:buSzPts val="1400"/>
              <a:buAutoNum type="arabicPeriod"/>
            </a:pPr>
            <a:r>
              <a:rPr lang="en" dirty="0"/>
              <a:t>Name of staff: Nguyen Tuan Duong	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dirty="0"/>
              <a:t>Some photos of your staff: 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dirty="0"/>
              <a:t>Short introduction: 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" dirty="0"/>
              <a:t>Leader of ASA (</a:t>
            </a:r>
            <a:r>
              <a:rPr lang="en-US" dirty="0"/>
              <a:t>Active Safety Automotive)</a:t>
            </a:r>
            <a:r>
              <a:rPr lang="en" dirty="0"/>
              <a:t> team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dirty="0"/>
              <a:t>Achievement of the year: 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T</a:t>
            </a:r>
            <a:r>
              <a:rPr lang="en" dirty="0"/>
              <a:t>3: 481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Q2: 451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Q3: 485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Q4: 454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Total defects found as of Dec-2020: </a:t>
            </a:r>
            <a:r>
              <a:rPr lang="en-US" dirty="0" smtClean="0"/>
              <a:t>10 defects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dirty="0"/>
              <a:t>Strengthens of your staff: 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endParaRPr lang="en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endParaRPr lang="en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34343"/>
      </a:dk2>
      <a:lt2>
        <a:srgbClr val="E7E6E6"/>
      </a:lt2>
      <a:accent1>
        <a:srgbClr val="F5C400"/>
      </a:accent1>
      <a:accent2>
        <a:srgbClr val="ED9F23"/>
      </a:accent2>
      <a:accent3>
        <a:srgbClr val="EDDD1D"/>
      </a:accent3>
      <a:accent4>
        <a:srgbClr val="FDF166"/>
      </a:accent4>
      <a:accent5>
        <a:srgbClr val="3F3F3F"/>
      </a:accent5>
      <a:accent6>
        <a:srgbClr val="3F3F3F"/>
      </a:accent6>
      <a:hlink>
        <a:srgbClr val="3F3F3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Microsoft Office PowerPoint</Application>
  <PresentationFormat>On-screen Show (16:9)</PresentationFormat>
  <Paragraphs>48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Roboto Condensed</vt:lpstr>
      <vt:lpstr>Arial</vt:lpstr>
      <vt:lpstr>Wingdings</vt:lpstr>
      <vt:lpstr>Office Theme</vt:lpstr>
      <vt:lpstr>ES Department_YEP 2020</vt:lpstr>
      <vt:lpstr>Team Overview</vt:lpstr>
      <vt:lpstr>ACHIEVEMENTS OF TEAM</vt:lpstr>
      <vt:lpstr>Employee of the year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 Department_YEP 2020</dc:title>
  <dc:creator>Mr.TD</dc:creator>
  <cp:lastModifiedBy>EXTERNAL Nguyen Tuan Duong (Ban Vien, RBVH/EPS45)</cp:lastModifiedBy>
  <cp:revision>18</cp:revision>
  <dcterms:modified xsi:type="dcterms:W3CDTF">2020-12-28T10:03:35Z</dcterms:modified>
</cp:coreProperties>
</file>